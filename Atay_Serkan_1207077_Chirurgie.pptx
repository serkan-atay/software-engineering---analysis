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267" r:id="rId3"/>
    <p:sldId id="287" r:id="rId4"/>
    <p:sldId id="259" r:id="rId5"/>
    <p:sldId id="282" r:id="rId6"/>
    <p:sldId id="266" r:id="rId7"/>
    <p:sldId id="274" r:id="rId8"/>
    <p:sldId id="278" r:id="rId9"/>
    <p:sldId id="280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277" r:id="rId19"/>
    <p:sldId id="279" r:id="rId20"/>
    <p:sldId id="291" r:id="rId21"/>
    <p:sldId id="313" r:id="rId22"/>
    <p:sldId id="262" r:id="rId23"/>
    <p:sldId id="293" r:id="rId24"/>
    <p:sldId id="314" r:id="rId25"/>
    <p:sldId id="292" r:id="rId26"/>
    <p:sldId id="312" r:id="rId27"/>
    <p:sldId id="315" r:id="rId28"/>
    <p:sldId id="270" r:id="rId29"/>
    <p:sldId id="320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288" r:id="rId41"/>
    <p:sldId id="289" r:id="rId42"/>
    <p:sldId id="316" r:id="rId43"/>
    <p:sldId id="260" r:id="rId44"/>
    <p:sldId id="258" r:id="rId45"/>
    <p:sldId id="269" r:id="rId46"/>
    <p:sldId id="321" r:id="rId47"/>
    <p:sldId id="257" r:id="rId48"/>
    <p:sldId id="281" r:id="rId49"/>
    <p:sldId id="273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5574"/>
  </p:normalViewPr>
  <p:slideViewPr>
    <p:cSldViewPr snapToGrid="0" snapToObjects="1">
      <p:cViewPr varScale="1">
        <p:scale>
          <a:sx n="100" d="100"/>
          <a:sy n="100" d="100"/>
        </p:scale>
        <p:origin x="464" y="168"/>
      </p:cViewPr>
      <p:guideLst/>
    </p:cSldViewPr>
  </p:slideViewPr>
  <p:outlineViewPr>
    <p:cViewPr>
      <p:scale>
        <a:sx n="33" d="100"/>
        <a:sy n="33" d="100"/>
      </p:scale>
      <p:origin x="0" y="-87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75F844-2A61-314E-BCF4-261A736A60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Name: Serkan Atay, (Matrikelnummer: 1207077)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3A754F-8E8F-5140-BE53-970FBDE0D2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88CF4-AA74-D143-A003-36FA2C28B2FF}" type="datetimeFigureOut">
              <a:rPr lang="en-US" smtClean="0"/>
              <a:t>1/24/21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5E48C-57D7-C94A-85F8-B71DD93B0D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70ACC-81F9-8845-A9FB-DF61AB1AE6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1DF39-1813-3D44-9D74-2EE447827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191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Name: Serkan Atay, (Matrikelnummer: 1207077)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4698A-7CFD-A145-A5E2-F7B8C04AD73C}" type="datetimeFigureOut">
              <a:rPr lang="en-US" smtClean="0"/>
              <a:t>1/24/21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02368-EF10-4E45-994B-C3E8CD681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218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02368-EF10-4E45-994B-C3E8CD6813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02368-EF10-4E45-994B-C3E8CD6813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97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02368-EF10-4E45-994B-C3E8CD68133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33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609E-BF44-7A42-8CD3-F1BBB0FC40A4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F0A6-2092-654A-9BA6-EF04FD7DAE66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D699-8684-3743-B273-49A7C426B737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FACF3-0EA4-674F-BF55-D34E421BE6B3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DA88-DAA1-814C-9A66-0DFF73B0A39B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B543E-E753-EC4C-B56A-E56E31FABFEA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2631-0B98-8747-867A-1E5BA601421C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4D83-CD17-9E40-AD90-9A499922FBAF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4A38366C-1564-D448-98E1-AD3B1D819D4B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0BC-FC85-4645-9CFE-6C55E3D42E74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8020-3CF9-EA4E-9CA2-02B28B6E9CA1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05788-2CBB-EA4D-B6CF-2EC7E0C7A862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4CC29-D745-1545-8BDB-7D05D8A63221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103F-A69F-8646-8BD7-269891E68C05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40D881E7-74A4-AF4C-BDC6-1A1078402AE6}" type="datetime1">
              <a:rPr lang="en-GB" smtClean="0"/>
              <a:t>24/01/2021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8643-9FC9-D14C-BA97-21D6E1FF1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Chirurgie</a:t>
            </a:r>
            <a:r>
              <a:rPr lang="en-US" dirty="0"/>
              <a:t> (</a:t>
            </a:r>
            <a:r>
              <a:rPr lang="en-US" dirty="0" err="1"/>
              <a:t>Geschichte</a:t>
            </a:r>
            <a:r>
              <a:rPr lang="en-US" dirty="0"/>
              <a:t>, </a:t>
            </a:r>
            <a:r>
              <a:rPr lang="en-US" dirty="0" err="1"/>
              <a:t>Methoden</a:t>
            </a:r>
            <a:r>
              <a:rPr lang="en-US" dirty="0"/>
              <a:t>, minimal invasive </a:t>
            </a:r>
            <a:r>
              <a:rPr lang="en-US" dirty="0" err="1"/>
              <a:t>Chirurgie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85AF3-964F-E343-B90D-26D3577C9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80846"/>
            <a:ext cx="12192000" cy="1577154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Nachname</a:t>
            </a:r>
            <a:r>
              <a:rPr lang="en-US" dirty="0"/>
              <a:t>: Atay						    								  Frankfurt University of Applied Sciences</a:t>
            </a:r>
          </a:p>
          <a:p>
            <a:r>
              <a:rPr lang="en-US" dirty="0" err="1"/>
              <a:t>Vorname</a:t>
            </a:r>
            <a:r>
              <a:rPr lang="en-US" dirty="0"/>
              <a:t>: Serkan						     		                    </a:t>
            </a:r>
            <a:r>
              <a:rPr lang="en-US" dirty="0" err="1"/>
              <a:t>Fachbereich</a:t>
            </a:r>
            <a:r>
              <a:rPr lang="en-US" dirty="0"/>
              <a:t> 2: </a:t>
            </a:r>
            <a:r>
              <a:rPr lang="en-US" dirty="0" err="1"/>
              <a:t>Informatik</a:t>
            </a:r>
            <a:r>
              <a:rPr lang="en-US" dirty="0"/>
              <a:t> und </a:t>
            </a:r>
            <a:r>
              <a:rPr lang="en-US" dirty="0" err="1"/>
              <a:t>Ingenieurwissenschaften</a:t>
            </a:r>
            <a:endParaRPr lang="en-US" dirty="0"/>
          </a:p>
          <a:p>
            <a:r>
              <a:rPr lang="en-US" dirty="0"/>
              <a:t>Name: Serkan Atay	 									  			           </a:t>
            </a:r>
            <a:r>
              <a:rPr lang="en-US" dirty="0" err="1"/>
              <a:t>Wahlpflichtmodul</a:t>
            </a:r>
            <a:r>
              <a:rPr lang="en-US" dirty="0"/>
              <a:t>: </a:t>
            </a:r>
            <a:r>
              <a:rPr lang="en-US" dirty="0" err="1"/>
              <a:t>Medizintechnik</a:t>
            </a:r>
            <a:endParaRPr lang="en-US" dirty="0"/>
          </a:p>
          <a:p>
            <a:r>
              <a:rPr lang="en-US" dirty="0" err="1"/>
              <a:t>Matrikelnummer</a:t>
            </a:r>
            <a:r>
              <a:rPr lang="en-US" dirty="0"/>
              <a:t>: 1207077						  						            </a:t>
            </a:r>
            <a:r>
              <a:rPr lang="en-US" dirty="0" err="1"/>
              <a:t>Dozent</a:t>
            </a:r>
            <a:r>
              <a:rPr lang="en-US" dirty="0"/>
              <a:t>: Prof. Dr. Thomas </a:t>
            </a:r>
            <a:r>
              <a:rPr lang="en-US" dirty="0" err="1"/>
              <a:t>Wenisch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247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8A0A-7CD1-0145-B1ED-706279C8C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Einleitend</a:t>
            </a:r>
            <a:r>
              <a:rPr lang="en-US" dirty="0"/>
              <a:t> =&gt; </a:t>
            </a:r>
            <a:r>
              <a:rPr lang="en-US" dirty="0" err="1"/>
              <a:t>Warum</a:t>
            </a:r>
            <a:r>
              <a:rPr lang="en-US" dirty="0"/>
              <a:t> dieses </a:t>
            </a:r>
            <a:r>
              <a:rPr lang="en-US" dirty="0" err="1"/>
              <a:t>Thema</a:t>
            </a:r>
            <a:r>
              <a:rPr lang="en-US" dirty="0"/>
              <a:t>?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A157E-806A-8A42-A702-9CB050E78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Analogie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den </a:t>
            </a:r>
            <a:r>
              <a:rPr lang="en-US" dirty="0" err="1"/>
              <a:t>Ingenieurwissenschaften</a:t>
            </a:r>
            <a:endParaRPr lang="en-US" dirty="0"/>
          </a:p>
          <a:p>
            <a:r>
              <a:rPr lang="en-US" noProof="1"/>
              <a:t>Handwerk</a:t>
            </a:r>
            <a:r>
              <a:rPr lang="en-US" dirty="0"/>
              <a:t> und </a:t>
            </a:r>
            <a:r>
              <a:rPr lang="en-US" dirty="0" err="1"/>
              <a:t>Geschick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gefragt</a:t>
            </a:r>
            <a:endParaRPr lang="en-US" dirty="0"/>
          </a:p>
          <a:p>
            <a:r>
              <a:rPr lang="en-US" dirty="0" err="1"/>
              <a:t>Wissenschaftliche</a:t>
            </a:r>
            <a:r>
              <a:rPr lang="en-US" dirty="0"/>
              <a:t> </a:t>
            </a:r>
            <a:r>
              <a:rPr lang="de-DE" dirty="0"/>
              <a:t>Erkenntnisse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angewendet</a:t>
            </a:r>
            <a:endParaRPr lang="en-US" dirty="0"/>
          </a:p>
          <a:p>
            <a:r>
              <a:rPr lang="en-US" dirty="0" err="1"/>
              <a:t>Wiederherstellung</a:t>
            </a:r>
            <a:r>
              <a:rPr lang="en-US" dirty="0"/>
              <a:t> und </a:t>
            </a:r>
            <a:r>
              <a:rPr lang="en-US" dirty="0" err="1"/>
              <a:t>Reparatur</a:t>
            </a:r>
            <a:endParaRPr lang="en-US" dirty="0"/>
          </a:p>
          <a:p>
            <a:r>
              <a:rPr lang="en-US" dirty="0" err="1"/>
              <a:t>Qualität</a:t>
            </a:r>
            <a:r>
              <a:rPr lang="en-US" dirty="0"/>
              <a:t> des </a:t>
            </a:r>
            <a:r>
              <a:rPr lang="en-US" dirty="0" err="1"/>
              <a:t>Menschenlebens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gesteigert</a:t>
            </a:r>
            <a:endParaRPr lang="en-US" dirty="0"/>
          </a:p>
          <a:p>
            <a:r>
              <a:rPr lang="en-US" dirty="0" err="1"/>
              <a:t>Lebensnotwendig</a:t>
            </a:r>
            <a:endParaRPr lang="en-US" dirty="0"/>
          </a:p>
          <a:p>
            <a:r>
              <a:rPr lang="en-US" dirty="0" err="1"/>
              <a:t>Interessant</a:t>
            </a:r>
            <a:r>
              <a:rPr lang="en-US" dirty="0"/>
              <a:t> und </a:t>
            </a:r>
            <a:r>
              <a:rPr lang="en-US" dirty="0" err="1"/>
              <a:t>Spannend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7CD64-3092-5541-9BD3-103F62731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BCBD5-9856-8C44-B35D-DA960CE0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666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hristian Albert Theodor Billroth. Photograph by Fritz Luckhardt. |  Wellcome Collection">
            <a:extLst>
              <a:ext uri="{FF2B5EF4-FFF2-40B4-BE49-F238E27FC236}">
                <a16:creationId xmlns:a16="http://schemas.microsoft.com/office/drawing/2014/main" id="{326CADF7-80DA-1641-9CA6-3EB263EA33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2" b="26882"/>
          <a:stretch/>
        </p:blipFill>
        <p:spPr bwMode="auto">
          <a:xfrm>
            <a:off x="6108700" y="-1"/>
            <a:ext cx="609445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Freeform 16">
            <a:extLst>
              <a:ext uri="{FF2B5EF4-FFF2-40B4-BE49-F238E27FC236}">
                <a16:creationId xmlns:a16="http://schemas.microsoft.com/office/drawing/2014/main" id="{3994EE40-F54F-48E5-826B-B45158209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485467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78A0A-7CD1-0145-B1ED-706279C8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5070100" cy="1559412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/>
              <a:t>“Erst </a:t>
            </a:r>
            <a:r>
              <a:rPr lang="en-US" sz="2000" dirty="0" err="1"/>
              <a:t>kommt</a:t>
            </a:r>
            <a:r>
              <a:rPr lang="en-US" sz="2000" dirty="0"/>
              <a:t> das Wort, </a:t>
            </a:r>
            <a:r>
              <a:rPr lang="en-US" sz="2000" dirty="0" err="1"/>
              <a:t>dann</a:t>
            </a:r>
            <a:r>
              <a:rPr lang="en-US" sz="2000" dirty="0"/>
              <a:t> die </a:t>
            </a:r>
            <a:r>
              <a:rPr lang="en-US" sz="2000" dirty="0" err="1"/>
              <a:t>Arznei</a:t>
            </a:r>
            <a:r>
              <a:rPr lang="en-US" sz="2000" dirty="0"/>
              <a:t> und </a:t>
            </a:r>
            <a:r>
              <a:rPr lang="en-US" sz="2000" dirty="0" err="1"/>
              <a:t>dann</a:t>
            </a:r>
            <a:r>
              <a:rPr lang="en-US" sz="2000" dirty="0"/>
              <a:t> das Messer.”</a:t>
            </a:r>
            <a:endParaRPr lang="en-US" sz="2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A157E-806A-8A42-A702-9CB050E78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13000"/>
            <a:ext cx="5055923" cy="3632200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dirty="0"/>
              <a:t>Christian Albert Theodor </a:t>
            </a:r>
            <a:r>
              <a:rPr lang="en-US" dirty="0" err="1"/>
              <a:t>Billroth</a:t>
            </a:r>
            <a:r>
              <a:rPr lang="en-US" dirty="0"/>
              <a:t> (1829 - 1894)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 err="1"/>
              <a:t>Pionier</a:t>
            </a:r>
            <a:r>
              <a:rPr lang="en-US" dirty="0"/>
              <a:t> in der </a:t>
            </a:r>
            <a:r>
              <a:rPr lang="en-US" dirty="0" err="1"/>
              <a:t>Chirurgie</a:t>
            </a:r>
            <a:endParaRPr lang="en-US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1881: </a:t>
            </a:r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Magenteilentfernung</a:t>
            </a:r>
            <a:endParaRPr lang="en-US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 err="1"/>
              <a:t>Wirkung</a:t>
            </a:r>
            <a:r>
              <a:rPr lang="en-US" dirty="0"/>
              <a:t> in den </a:t>
            </a:r>
            <a:r>
              <a:rPr lang="en-US" dirty="0" err="1"/>
              <a:t>folgenden</a:t>
            </a:r>
            <a:r>
              <a:rPr lang="en-US" dirty="0"/>
              <a:t> </a:t>
            </a:r>
            <a:r>
              <a:rPr lang="en-US" dirty="0" err="1"/>
              <a:t>Bereichen</a:t>
            </a:r>
            <a:r>
              <a:rPr lang="en-US" dirty="0"/>
              <a:t>: </a:t>
            </a:r>
            <a:r>
              <a:rPr lang="en-US" dirty="0" err="1"/>
              <a:t>Bauchchirurgie</a:t>
            </a:r>
            <a:r>
              <a:rPr lang="en-US" dirty="0"/>
              <a:t>, </a:t>
            </a:r>
            <a:r>
              <a:rPr lang="en-US" dirty="0" err="1"/>
              <a:t>Kehlkopfchirurgie</a:t>
            </a:r>
            <a:r>
              <a:rPr lang="en-US" dirty="0"/>
              <a:t>, </a:t>
            </a:r>
            <a:r>
              <a:rPr lang="en-US" dirty="0" err="1"/>
              <a:t>pathologische</a:t>
            </a:r>
            <a:r>
              <a:rPr lang="en-US" dirty="0"/>
              <a:t> </a:t>
            </a:r>
            <a:r>
              <a:rPr lang="en-US" dirty="0" err="1"/>
              <a:t>Anatomie</a:t>
            </a:r>
            <a:r>
              <a:rPr lang="en-US" dirty="0"/>
              <a:t> und </a:t>
            </a:r>
            <a:r>
              <a:rPr lang="en-US" dirty="0" err="1"/>
              <a:t>Bakteriologie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D9DAF-17FE-7B42-B824-33DD4A56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1514" y="6041362"/>
            <a:ext cx="4563282" cy="365125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</a:pPr>
            <a:r>
              <a:rPr lang="en-US"/>
              <a:t>Name: Serkan Atay | Fachbereich 2 | Matrikelnummer: 1207077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26BC4-A2B3-7545-972E-97BB975F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8331" y="5915888"/>
            <a:ext cx="1062155" cy="49059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26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- up of a stethoscope and a computer keyboard&#10;&#10;Description automatically generated with medium confidence">
            <a:extLst>
              <a:ext uri="{FF2B5EF4-FFF2-40B4-BE49-F238E27FC236}">
                <a16:creationId xmlns:a16="http://schemas.microsoft.com/office/drawing/2014/main" id="{D45B2409-5AEE-4D90-8892-B48BEE1C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0682" r="-2" b="-2"/>
          <a:stretch/>
        </p:blipFill>
        <p:spPr>
          <a:xfrm>
            <a:off x="6097550" y="0"/>
            <a:ext cx="6094450" cy="6858001"/>
          </a:xfrm>
          <a:prstGeom prst="rect">
            <a:avLst/>
          </a:prstGeom>
        </p:spPr>
      </p:pic>
      <p:sp>
        <p:nvSpPr>
          <p:cNvPr id="14" name="Freeform 16">
            <a:extLst>
              <a:ext uri="{FF2B5EF4-FFF2-40B4-BE49-F238E27FC236}">
                <a16:creationId xmlns:a16="http://schemas.microsoft.com/office/drawing/2014/main" id="{3994EE40-F54F-48E5-826B-B45158209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485467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E63363-2278-5544-B2C8-3A3AADAA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5070100" cy="1559412"/>
          </a:xfrm>
        </p:spPr>
        <p:txBody>
          <a:bodyPr>
            <a:normAutofit/>
          </a:bodyPr>
          <a:lstStyle/>
          <a:p>
            <a:r>
              <a:rPr lang="en-US" dirty="0" err="1"/>
              <a:t>Übersicht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8E0B0-8768-B544-B5B2-255E3AC59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13000"/>
            <a:ext cx="5055923" cy="3632200"/>
          </a:xfrm>
        </p:spPr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200" dirty="0" err="1"/>
              <a:t>Etymologie</a:t>
            </a:r>
            <a:endParaRPr lang="en-US" sz="1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100" dirty="0" err="1"/>
              <a:t>Wortzusammensetzungen</a:t>
            </a:r>
            <a:endParaRPr lang="en-US" sz="11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200" dirty="0" err="1"/>
              <a:t>Begrifflichkeiten</a:t>
            </a:r>
            <a:endParaRPr lang="en-US" sz="1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100" dirty="0" err="1"/>
              <a:t>Anästhesie</a:t>
            </a:r>
            <a:endParaRPr lang="en-US" sz="11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100" dirty="0"/>
              <a:t>Operation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200" dirty="0" err="1"/>
              <a:t>Geschichte</a:t>
            </a:r>
            <a:endParaRPr lang="en-US" sz="12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200" dirty="0" err="1"/>
              <a:t>Methoden</a:t>
            </a:r>
            <a:endParaRPr lang="en-US" sz="1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000" dirty="0" err="1"/>
              <a:t>Vergleich</a:t>
            </a:r>
            <a:endParaRPr lang="en-US" sz="10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200" dirty="0" err="1"/>
              <a:t>Fachgebiete</a:t>
            </a:r>
            <a:endParaRPr lang="en-US" sz="12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200" dirty="0" err="1"/>
              <a:t>Eingesetzte</a:t>
            </a:r>
            <a:r>
              <a:rPr lang="en-US" sz="1200" dirty="0"/>
              <a:t> </a:t>
            </a:r>
            <a:r>
              <a:rPr lang="en-US" sz="1200" dirty="0" err="1"/>
              <a:t>Equipments</a:t>
            </a:r>
            <a:endParaRPr lang="en-US" sz="12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200" dirty="0" err="1"/>
              <a:t>Chirurgische</a:t>
            </a:r>
            <a:r>
              <a:rPr lang="en-US" sz="1200" dirty="0"/>
              <a:t> </a:t>
            </a:r>
            <a:r>
              <a:rPr lang="en-US" sz="1200" dirty="0" err="1"/>
              <a:t>Instrumente</a:t>
            </a:r>
            <a:endParaRPr lang="en-US" sz="12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200" dirty="0"/>
              <a:t>Zukunft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200" dirty="0" err="1"/>
              <a:t>Fazit</a:t>
            </a:r>
            <a:endParaRPr lang="en-US" sz="1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6035C-183C-BF45-809E-C762B3E8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ACF44-2FEB-934F-9708-F50199686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990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Etymologie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Vom</a:t>
            </a:r>
            <a:r>
              <a:rPr lang="en-US" sz="1600" dirty="0"/>
              <a:t> </a:t>
            </a:r>
            <a:r>
              <a:rPr lang="en-US" sz="1600" dirty="0" err="1"/>
              <a:t>lateinischen</a:t>
            </a:r>
            <a:r>
              <a:rPr lang="en-US" sz="1600" dirty="0"/>
              <a:t>: “</a:t>
            </a:r>
            <a:r>
              <a:rPr lang="en-US" sz="1600" i="1" dirty="0" err="1"/>
              <a:t>chīrūrgus</a:t>
            </a:r>
            <a:r>
              <a:rPr lang="en-US" sz="1600" i="1" dirty="0"/>
              <a:t>”</a:t>
            </a:r>
          </a:p>
          <a:p>
            <a:r>
              <a:rPr lang="en-US" sz="1600" dirty="0" err="1"/>
              <a:t>Bedeutung</a:t>
            </a:r>
            <a:r>
              <a:rPr lang="en-US" sz="1600" dirty="0"/>
              <a:t>: “</a:t>
            </a:r>
            <a:r>
              <a:rPr lang="en-US" sz="1600" dirty="0" err="1"/>
              <a:t>Operateur</a:t>
            </a:r>
            <a:r>
              <a:rPr lang="en-US" sz="1600" dirty="0"/>
              <a:t>”</a:t>
            </a:r>
          </a:p>
          <a:p>
            <a:r>
              <a:rPr lang="en-US" sz="1600" dirty="0" err="1"/>
              <a:t>Griechisch</a:t>
            </a:r>
            <a:r>
              <a:rPr lang="en-US" sz="1600" dirty="0"/>
              <a:t>: “</a:t>
            </a:r>
            <a:r>
              <a:rPr lang="en-US" sz="1600" i="1" dirty="0" err="1"/>
              <a:t>cheirūrgós</a:t>
            </a:r>
            <a:r>
              <a:rPr lang="en-US" sz="1600" i="1" dirty="0"/>
              <a:t>”</a:t>
            </a:r>
          </a:p>
          <a:p>
            <a:r>
              <a:rPr lang="en-US" sz="1600" dirty="0" err="1"/>
              <a:t>Bedeutung</a:t>
            </a:r>
            <a:r>
              <a:rPr lang="en-US" sz="1600" dirty="0"/>
              <a:t>: “Ein </a:t>
            </a:r>
            <a:r>
              <a:rPr lang="en-US" sz="1600" dirty="0" err="1"/>
              <a:t>Handwerk</a:t>
            </a:r>
            <a:r>
              <a:rPr lang="en-US" sz="1600" dirty="0"/>
              <a:t>”</a:t>
            </a:r>
          </a:p>
          <a:p>
            <a:r>
              <a:rPr lang="en-US" sz="1600" dirty="0" err="1"/>
              <a:t>Kann</a:t>
            </a:r>
            <a:r>
              <a:rPr lang="en-US" sz="1600" dirty="0"/>
              <a:t> </a:t>
            </a:r>
            <a:r>
              <a:rPr lang="en-US" sz="1600" dirty="0" err="1"/>
              <a:t>sinngemäß</a:t>
            </a:r>
            <a:r>
              <a:rPr lang="en-US" sz="1600" dirty="0"/>
              <a:t> </a:t>
            </a:r>
            <a:r>
              <a:rPr lang="en-US" sz="1600" dirty="0" err="1"/>
              <a:t>mehrere</a:t>
            </a:r>
            <a:r>
              <a:rPr lang="en-US" sz="1600" dirty="0"/>
              <a:t> </a:t>
            </a:r>
            <a:r>
              <a:rPr lang="en-US" sz="1600" dirty="0" err="1"/>
              <a:t>Bedeutungen</a:t>
            </a:r>
            <a:r>
              <a:rPr lang="en-US" sz="1600" dirty="0"/>
              <a:t> </a:t>
            </a:r>
            <a:r>
              <a:rPr lang="en-US" sz="1600" dirty="0" err="1"/>
              <a:t>haben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12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Etymologie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Wortzusammensetzungen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Das Wort </a:t>
            </a:r>
            <a:r>
              <a:rPr lang="en-US" sz="1600" dirty="0" err="1"/>
              <a:t>im</a:t>
            </a:r>
            <a:r>
              <a:rPr lang="en-US" sz="1600" dirty="0"/>
              <a:t> </a:t>
            </a:r>
            <a:r>
              <a:rPr lang="en-US" sz="1600" i="1" dirty="0"/>
              <a:t>Suffix</a:t>
            </a:r>
          </a:p>
          <a:p>
            <a:r>
              <a:rPr lang="en-US" sz="1600" dirty="0"/>
              <a:t>“</a:t>
            </a:r>
            <a:r>
              <a:rPr lang="en-US" sz="1600" dirty="0" err="1"/>
              <a:t>Lungen</a:t>
            </a:r>
            <a:r>
              <a:rPr lang="en-US" sz="1600" i="1" dirty="0" err="1"/>
              <a:t>chirurgie</a:t>
            </a:r>
            <a:r>
              <a:rPr lang="en-US" sz="1600" dirty="0"/>
              <a:t>”</a:t>
            </a:r>
          </a:p>
          <a:p>
            <a:r>
              <a:rPr lang="en-US" sz="1600" dirty="0"/>
              <a:t>“</a:t>
            </a:r>
            <a:r>
              <a:rPr lang="en-US" sz="1600" dirty="0" err="1"/>
              <a:t>Allgemein</a:t>
            </a:r>
            <a:r>
              <a:rPr lang="en-US" sz="1600" i="1" dirty="0" err="1"/>
              <a:t>chirurgie</a:t>
            </a:r>
            <a:r>
              <a:rPr lang="en-US" sz="1600" dirty="0"/>
              <a:t>”</a:t>
            </a:r>
          </a:p>
          <a:p>
            <a:r>
              <a:rPr lang="en-US" sz="1600" dirty="0"/>
              <a:t>“</a:t>
            </a:r>
            <a:r>
              <a:rPr lang="en-US" sz="1600" dirty="0" err="1"/>
              <a:t>Laser</a:t>
            </a:r>
            <a:r>
              <a:rPr lang="en-US" sz="1600" i="1" dirty="0" err="1"/>
              <a:t>chirurgie</a:t>
            </a:r>
            <a:r>
              <a:rPr lang="en-US" sz="1600" dirty="0"/>
              <a:t>”</a:t>
            </a:r>
          </a:p>
          <a:p>
            <a:r>
              <a:rPr lang="en-US" sz="1600" dirty="0"/>
              <a:t>“</a:t>
            </a:r>
            <a:r>
              <a:rPr lang="en-US" sz="1600" dirty="0" err="1"/>
              <a:t>Unfall</a:t>
            </a:r>
            <a:r>
              <a:rPr lang="en-US" sz="1600" i="1" dirty="0" err="1"/>
              <a:t>chirurgie</a:t>
            </a:r>
            <a:r>
              <a:rPr lang="en-US" sz="1600" dirty="0"/>
              <a:t>”</a:t>
            </a:r>
          </a:p>
          <a:p>
            <a:r>
              <a:rPr lang="en-US" sz="1600" dirty="0"/>
              <a:t>“</a:t>
            </a:r>
            <a:r>
              <a:rPr lang="en-US" sz="1600" dirty="0" err="1"/>
              <a:t>Gehirn</a:t>
            </a:r>
            <a:r>
              <a:rPr lang="en-US" sz="1600" i="1" dirty="0" err="1"/>
              <a:t>chirurgie</a:t>
            </a:r>
            <a:r>
              <a:rPr lang="en-US" sz="1600" dirty="0"/>
              <a:t>”</a:t>
            </a:r>
          </a:p>
          <a:p>
            <a:r>
              <a:rPr lang="en-US" sz="1600" dirty="0"/>
              <a:t>“</a:t>
            </a:r>
            <a:r>
              <a:rPr lang="en-US" sz="1600" dirty="0" err="1"/>
              <a:t>Herz</a:t>
            </a:r>
            <a:r>
              <a:rPr lang="en-US" sz="1600" i="1" dirty="0" err="1"/>
              <a:t>chirurgie</a:t>
            </a:r>
            <a:r>
              <a:rPr lang="en-US" sz="1600" dirty="0"/>
              <a:t>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83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Begrifflichkeiten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Anästhesie</a:t>
            </a:r>
            <a:endParaRPr lang="en-US" sz="1600" dirty="0"/>
          </a:p>
          <a:p>
            <a:pPr lvl="1"/>
            <a:r>
              <a:rPr lang="en-US" sz="1400" dirty="0"/>
              <a:t>ASA-</a:t>
            </a:r>
            <a:r>
              <a:rPr lang="en-US" sz="1400" dirty="0" err="1"/>
              <a:t>Klassifikation</a:t>
            </a:r>
            <a:endParaRPr lang="en-US" sz="1400" dirty="0"/>
          </a:p>
          <a:p>
            <a:pPr lvl="1"/>
            <a:r>
              <a:rPr lang="en-US" sz="1400" dirty="0" err="1"/>
              <a:t>Allgemeinanästhesie</a:t>
            </a:r>
            <a:endParaRPr lang="en-US" sz="1400" dirty="0"/>
          </a:p>
          <a:p>
            <a:pPr lvl="1"/>
            <a:r>
              <a:rPr lang="en-US" sz="1400" dirty="0" err="1"/>
              <a:t>Regionalanästhesie</a:t>
            </a:r>
            <a:r>
              <a:rPr lang="en-US" sz="1400" dirty="0"/>
              <a:t> (</a:t>
            </a:r>
            <a:r>
              <a:rPr lang="en-US" sz="1400" dirty="0" err="1"/>
              <a:t>Teilnarkose</a:t>
            </a:r>
            <a:r>
              <a:rPr lang="en-US" sz="1400" dirty="0"/>
              <a:t>)</a:t>
            </a:r>
          </a:p>
          <a:p>
            <a:pPr lvl="1"/>
            <a:r>
              <a:rPr lang="en-US" sz="1400" dirty="0" err="1"/>
              <a:t>Lokalanästhesie</a:t>
            </a:r>
            <a:endParaRPr lang="en-US" sz="1400" dirty="0"/>
          </a:p>
          <a:p>
            <a:pPr lvl="1"/>
            <a:r>
              <a:rPr lang="en-US" sz="1400" dirty="0" err="1"/>
              <a:t>Sedierung</a:t>
            </a:r>
            <a:endParaRPr lang="en-US" sz="1400" dirty="0"/>
          </a:p>
          <a:p>
            <a:pPr lvl="1"/>
            <a:r>
              <a:rPr lang="en-US" sz="1400" dirty="0" err="1"/>
              <a:t>Funktionsweise</a:t>
            </a:r>
            <a:r>
              <a:rPr lang="en-US" sz="1400" dirty="0"/>
              <a:t>/</a:t>
            </a:r>
            <a:r>
              <a:rPr lang="en-US" sz="1400" dirty="0" err="1"/>
              <a:t>Narkoseeinleitung</a:t>
            </a:r>
            <a:endParaRPr lang="en-US" sz="1400" dirty="0"/>
          </a:p>
          <a:p>
            <a:pPr lvl="1"/>
            <a:r>
              <a:rPr lang="en-US" sz="1400" dirty="0" err="1"/>
              <a:t>Kontinuum</a:t>
            </a:r>
            <a:r>
              <a:rPr lang="en-US" sz="1400" dirty="0"/>
              <a:t> und </a:t>
            </a:r>
            <a:r>
              <a:rPr lang="en-US" sz="1400" dirty="0" err="1"/>
              <a:t>Ausleitung</a:t>
            </a:r>
            <a:endParaRPr lang="en-US" sz="1400" dirty="0"/>
          </a:p>
          <a:p>
            <a:pPr lvl="1"/>
            <a:r>
              <a:rPr lang="en-US" sz="1400" dirty="0" err="1"/>
              <a:t>Anwendungsbereiche</a:t>
            </a:r>
            <a:endParaRPr lang="en-US" sz="1400" dirty="0"/>
          </a:p>
          <a:p>
            <a:pPr lvl="1"/>
            <a:r>
              <a:rPr lang="en-US" sz="1400" dirty="0" err="1"/>
              <a:t>Risiken</a:t>
            </a:r>
            <a:endParaRPr lang="en-US" sz="1400" dirty="0"/>
          </a:p>
          <a:p>
            <a:r>
              <a:rPr lang="en-US" sz="1600" dirty="0"/>
              <a:t>Operation</a:t>
            </a:r>
          </a:p>
          <a:p>
            <a:pPr lvl="1"/>
            <a:r>
              <a:rPr lang="en-US" sz="1400" dirty="0" err="1"/>
              <a:t>Beschreibung</a:t>
            </a:r>
            <a:endParaRPr lang="en-US" sz="1400" dirty="0"/>
          </a:p>
          <a:p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87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Anästhesie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Griechischer</a:t>
            </a:r>
            <a:r>
              <a:rPr lang="en-US" sz="1600" dirty="0"/>
              <a:t> </a:t>
            </a:r>
            <a:r>
              <a:rPr lang="en-US" sz="1600" dirty="0" err="1"/>
              <a:t>Begriff</a:t>
            </a:r>
            <a:r>
              <a:rPr lang="en-US" sz="1600" dirty="0"/>
              <a:t>; </a:t>
            </a:r>
            <a:r>
              <a:rPr lang="en-US" sz="1600" dirty="0" err="1"/>
              <a:t>Bedeutung</a:t>
            </a:r>
            <a:r>
              <a:rPr lang="en-US" sz="1600" dirty="0"/>
              <a:t>: “</a:t>
            </a:r>
            <a:r>
              <a:rPr lang="en-US" sz="1600" dirty="0" err="1"/>
              <a:t>Ohne</a:t>
            </a:r>
            <a:r>
              <a:rPr lang="en-US" sz="1600" dirty="0"/>
              <a:t> </a:t>
            </a:r>
            <a:r>
              <a:rPr lang="en-US" sz="1600" dirty="0" err="1"/>
              <a:t>Wahrnehmung</a:t>
            </a:r>
            <a:r>
              <a:rPr lang="en-US" sz="1600" dirty="0"/>
              <a:t>”</a:t>
            </a:r>
          </a:p>
          <a:p>
            <a:r>
              <a:rPr lang="en-US" sz="1600" dirty="0" err="1"/>
              <a:t>Umgangssprachliche</a:t>
            </a:r>
            <a:r>
              <a:rPr lang="en-US" sz="1600" dirty="0"/>
              <a:t> </a:t>
            </a:r>
            <a:r>
              <a:rPr lang="en-US" sz="1600" dirty="0" err="1"/>
              <a:t>Begriffe</a:t>
            </a:r>
            <a:r>
              <a:rPr lang="en-US" sz="1600" dirty="0"/>
              <a:t>: “</a:t>
            </a:r>
            <a:r>
              <a:rPr lang="en-US" sz="1600" dirty="0" err="1"/>
              <a:t>Betäubung</a:t>
            </a:r>
            <a:r>
              <a:rPr lang="en-US" sz="1600" dirty="0"/>
              <a:t>”, “</a:t>
            </a:r>
            <a:r>
              <a:rPr lang="en-US" sz="1600" dirty="0" err="1"/>
              <a:t>Narkose</a:t>
            </a:r>
            <a:r>
              <a:rPr lang="en-US" sz="1600" dirty="0"/>
              <a:t>”</a:t>
            </a:r>
          </a:p>
          <a:p>
            <a:r>
              <a:rPr lang="en-US" sz="1600" dirty="0" err="1"/>
              <a:t>Körper</a:t>
            </a:r>
            <a:r>
              <a:rPr lang="en-US" sz="1600" dirty="0"/>
              <a:t>/-</a:t>
            </a:r>
            <a:r>
              <a:rPr lang="en-US" sz="1600" dirty="0" err="1"/>
              <a:t>teile</a:t>
            </a:r>
            <a:r>
              <a:rPr lang="en-US" sz="1600" dirty="0"/>
              <a:t> </a:t>
            </a:r>
            <a:r>
              <a:rPr lang="en-US" sz="1600" dirty="0" err="1"/>
              <a:t>empfindet</a:t>
            </a:r>
            <a:r>
              <a:rPr lang="en-US" sz="1600" dirty="0"/>
              <a:t>/n </a:t>
            </a:r>
            <a:r>
              <a:rPr lang="en-US" sz="1600" dirty="0" err="1"/>
              <a:t>nichts</a:t>
            </a:r>
            <a:r>
              <a:rPr lang="en-US" sz="1600" dirty="0"/>
              <a:t> </a:t>
            </a:r>
            <a:r>
              <a:rPr lang="en-US" sz="1600" dirty="0" err="1"/>
              <a:t>nach</a:t>
            </a:r>
            <a:r>
              <a:rPr lang="en-US" sz="1600" dirty="0"/>
              <a:t> </a:t>
            </a:r>
            <a:r>
              <a:rPr lang="en-US" sz="1600" dirty="0" err="1"/>
              <a:t>einer</a:t>
            </a:r>
            <a:r>
              <a:rPr lang="en-US" sz="1600" dirty="0"/>
              <a:t> </a:t>
            </a:r>
            <a:r>
              <a:rPr lang="en-US" sz="1600" dirty="0" err="1"/>
              <a:t>Verabreichung</a:t>
            </a:r>
            <a:endParaRPr lang="en-US" sz="1600" dirty="0"/>
          </a:p>
          <a:p>
            <a:r>
              <a:rPr lang="en-US" sz="1600" dirty="0" err="1"/>
              <a:t>Dosierung</a:t>
            </a:r>
            <a:r>
              <a:rPr lang="en-US" sz="1600" dirty="0"/>
              <a:t> </a:t>
            </a:r>
            <a:r>
              <a:rPr lang="en-US" sz="1600" dirty="0" err="1"/>
              <a:t>heutzutage</a:t>
            </a:r>
            <a:r>
              <a:rPr lang="en-US" sz="1600" dirty="0"/>
              <a:t> </a:t>
            </a:r>
            <a:r>
              <a:rPr lang="en-US" sz="1600" dirty="0" err="1"/>
              <a:t>nach</a:t>
            </a:r>
            <a:r>
              <a:rPr lang="en-US" sz="1600" dirty="0"/>
              <a:t> Patient </a:t>
            </a:r>
            <a:r>
              <a:rPr lang="en-US" sz="1600" dirty="0" err="1"/>
              <a:t>präzise</a:t>
            </a:r>
            <a:r>
              <a:rPr lang="en-US" sz="1600" dirty="0"/>
              <a:t> </a:t>
            </a:r>
            <a:r>
              <a:rPr lang="en-US" sz="1600" dirty="0" err="1"/>
              <a:t>bestimmbar</a:t>
            </a:r>
            <a:endParaRPr lang="en-US" sz="1600" dirty="0"/>
          </a:p>
          <a:p>
            <a:r>
              <a:rPr lang="en-US" sz="1600" dirty="0" err="1"/>
              <a:t>Essenzieller</a:t>
            </a:r>
            <a:r>
              <a:rPr lang="en-US" sz="1600" dirty="0"/>
              <a:t> Teil der </a:t>
            </a:r>
            <a:r>
              <a:rPr lang="en-US" sz="1600" dirty="0" err="1"/>
              <a:t>Chirurgie</a:t>
            </a:r>
            <a:r>
              <a:rPr lang="en-US" sz="1600" dirty="0"/>
              <a:t>, der </a:t>
            </a:r>
            <a:r>
              <a:rPr lang="en-US" sz="1600" dirty="0" err="1"/>
              <a:t>alles</a:t>
            </a:r>
            <a:r>
              <a:rPr lang="en-US" sz="1600" dirty="0"/>
              <a:t> erst </a:t>
            </a:r>
            <a:r>
              <a:rPr lang="en-US" sz="1600" dirty="0" err="1"/>
              <a:t>ermöglicht</a:t>
            </a:r>
            <a:endParaRPr lang="en-US" sz="1600" dirty="0"/>
          </a:p>
          <a:p>
            <a:r>
              <a:rPr lang="en-US" sz="1600" dirty="0" err="1"/>
              <a:t>Zuständig</a:t>
            </a:r>
            <a:r>
              <a:rPr lang="en-US" sz="1600" dirty="0"/>
              <a:t>: </a:t>
            </a:r>
            <a:r>
              <a:rPr lang="en-US" sz="1600" dirty="0" err="1"/>
              <a:t>Facharzt</a:t>
            </a:r>
            <a:r>
              <a:rPr lang="en-US" sz="1600" dirty="0"/>
              <a:t> </a:t>
            </a:r>
            <a:r>
              <a:rPr lang="en-US" sz="1600" dirty="0" err="1"/>
              <a:t>für</a:t>
            </a:r>
            <a:r>
              <a:rPr lang="en-US" sz="1600" dirty="0"/>
              <a:t> </a:t>
            </a:r>
            <a:r>
              <a:rPr lang="en-US" sz="1600" dirty="0" err="1"/>
              <a:t>Anäesthesiologie</a:t>
            </a:r>
            <a:endParaRPr lang="en-US" sz="1600" dirty="0"/>
          </a:p>
          <a:p>
            <a:r>
              <a:rPr lang="en-US" sz="1600" dirty="0"/>
              <a:t>“</a:t>
            </a:r>
            <a:r>
              <a:rPr lang="en-US" sz="1600" dirty="0" err="1"/>
              <a:t>Narkoseaufklärung</a:t>
            </a:r>
            <a:r>
              <a:rPr lang="en-US" sz="1600" dirty="0"/>
              <a:t>” </a:t>
            </a:r>
            <a:r>
              <a:rPr lang="en-US" sz="1600" dirty="0" err="1"/>
              <a:t>über</a:t>
            </a:r>
            <a:r>
              <a:rPr lang="en-US" sz="1600" dirty="0"/>
              <a:t> </a:t>
            </a:r>
            <a:r>
              <a:rPr lang="en-US" sz="1600" dirty="0" err="1"/>
              <a:t>Risiken</a:t>
            </a:r>
            <a:r>
              <a:rPr lang="en-US" sz="1600" dirty="0"/>
              <a:t> und </a:t>
            </a:r>
            <a:r>
              <a:rPr lang="en-US" sz="1600" dirty="0" err="1"/>
              <a:t>Nebenwirkungen</a:t>
            </a:r>
            <a:r>
              <a:rPr lang="en-US" sz="1600" dirty="0"/>
              <a:t> </a:t>
            </a:r>
            <a:r>
              <a:rPr lang="en-US" sz="1600" dirty="0" err="1"/>
              <a:t>ist</a:t>
            </a:r>
            <a:r>
              <a:rPr lang="en-US" sz="1600" dirty="0"/>
              <a:t> </a:t>
            </a:r>
            <a:r>
              <a:rPr lang="en-US" sz="1600" dirty="0" err="1"/>
              <a:t>einer</a:t>
            </a:r>
            <a:r>
              <a:rPr lang="en-US" sz="1600" dirty="0"/>
              <a:t> der </a:t>
            </a:r>
            <a:r>
              <a:rPr lang="en-US" sz="1600" dirty="0" err="1"/>
              <a:t>ersten</a:t>
            </a:r>
            <a:r>
              <a:rPr lang="en-US" sz="1600" dirty="0"/>
              <a:t> </a:t>
            </a:r>
            <a:r>
              <a:rPr lang="en-US" sz="1600" dirty="0" err="1"/>
              <a:t>Schritte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637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prstClr val="white"/>
                </a:solidFill>
              </a:rPr>
              <a:t>Anästhesie</a:t>
            </a:r>
            <a:br>
              <a:rPr lang="en-US" sz="16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(ASA-</a:t>
            </a:r>
            <a:r>
              <a:rPr lang="en-US" sz="1600" dirty="0" err="1">
                <a:solidFill>
                  <a:prstClr val="white"/>
                </a:solidFill>
              </a:rPr>
              <a:t>Klassifikation</a:t>
            </a:r>
            <a:r>
              <a:rPr lang="en-US" sz="1600" dirty="0">
                <a:solidFill>
                  <a:prstClr val="white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050" name="Picture 2" descr="ASA Physical Status Classification System. 27">
            <a:extLst>
              <a:ext uri="{FF2B5EF4-FFF2-40B4-BE49-F238E27FC236}">
                <a16:creationId xmlns:a16="http://schemas.microsoft.com/office/drawing/2014/main" id="{746DA8DF-0B1D-6B4A-84F2-13E4B75FE6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987" y="1746250"/>
            <a:ext cx="5396400" cy="3364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9B95DB-F6C1-A54D-B8B8-A512B5A72408}"/>
              </a:ext>
            </a:extLst>
          </p:cNvPr>
          <p:cNvSpPr txBox="1"/>
          <p:nvPr/>
        </p:nvSpPr>
        <p:spPr>
          <a:xfrm>
            <a:off x="5474059" y="5195155"/>
            <a:ext cx="539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ASA-</a:t>
            </a:r>
            <a:r>
              <a:rPr lang="en-US" sz="1600" dirty="0" err="1"/>
              <a:t>Klassifikation</a:t>
            </a:r>
            <a:r>
              <a:rPr lang="en-US" sz="1600" dirty="0"/>
              <a:t> </a:t>
            </a:r>
            <a:r>
              <a:rPr lang="en-US" sz="1600" dirty="0" err="1"/>
              <a:t>zur</a:t>
            </a:r>
            <a:r>
              <a:rPr lang="en-US" sz="1600" dirty="0"/>
              <a:t> </a:t>
            </a:r>
            <a:r>
              <a:rPr lang="en-US" sz="1600" dirty="0" err="1"/>
              <a:t>Kategorisierung</a:t>
            </a:r>
            <a:r>
              <a:rPr lang="en-US" sz="1600" dirty="0"/>
              <a:t> der </a:t>
            </a:r>
            <a:r>
              <a:rPr lang="en-US" sz="1600" dirty="0" err="1"/>
              <a:t>körperlichen</a:t>
            </a:r>
            <a:r>
              <a:rPr lang="en-US" sz="1600" dirty="0"/>
              <a:t> </a:t>
            </a:r>
            <a:r>
              <a:rPr lang="en-US" sz="1600" dirty="0" err="1"/>
              <a:t>Verfassungen</a:t>
            </a:r>
            <a:r>
              <a:rPr lang="en-US" sz="1600" dirty="0"/>
              <a:t> der </a:t>
            </a:r>
            <a:r>
              <a:rPr lang="en-US" sz="1600" dirty="0" err="1"/>
              <a:t>Patienten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457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Anästhesie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Allgemeinanästhesie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Patient in </a:t>
            </a:r>
            <a:r>
              <a:rPr lang="en-US" sz="1600" dirty="0" err="1"/>
              <a:t>Vollnarkose</a:t>
            </a:r>
            <a:endParaRPr lang="en-US" sz="1600" dirty="0"/>
          </a:p>
          <a:p>
            <a:r>
              <a:rPr lang="en-US" sz="1600" dirty="0" err="1"/>
              <a:t>Für</a:t>
            </a:r>
            <a:r>
              <a:rPr lang="en-US" sz="1600" dirty="0"/>
              <a:t> </a:t>
            </a:r>
            <a:r>
              <a:rPr lang="en-US" sz="1600" dirty="0" err="1"/>
              <a:t>bestimmte</a:t>
            </a:r>
            <a:r>
              <a:rPr lang="en-US" sz="1600" dirty="0"/>
              <a:t> Zeit </a:t>
            </a:r>
            <a:r>
              <a:rPr lang="en-US" sz="1600" dirty="0" err="1"/>
              <a:t>kein</a:t>
            </a:r>
            <a:r>
              <a:rPr lang="en-US" sz="1600" dirty="0"/>
              <a:t> </a:t>
            </a:r>
            <a:r>
              <a:rPr lang="en-US" sz="1600" dirty="0" err="1"/>
              <a:t>Bewusstsein</a:t>
            </a:r>
            <a:r>
              <a:rPr lang="en-US" sz="1600" dirty="0"/>
              <a:t> =&gt; </a:t>
            </a:r>
            <a:r>
              <a:rPr lang="en-US" sz="1600" dirty="0" err="1"/>
              <a:t>kein</a:t>
            </a:r>
            <a:r>
              <a:rPr lang="en-US" sz="1600" dirty="0"/>
              <a:t> </a:t>
            </a:r>
            <a:r>
              <a:rPr lang="en-US" sz="1600" dirty="0" err="1"/>
              <a:t>Schmerzempfinden</a:t>
            </a:r>
            <a:endParaRPr lang="en-US" sz="1600" dirty="0"/>
          </a:p>
          <a:p>
            <a:r>
              <a:rPr lang="en-US" sz="1600" dirty="0" err="1"/>
              <a:t>Intravenös</a:t>
            </a:r>
            <a:r>
              <a:rPr lang="en-US" sz="1600" dirty="0"/>
              <a:t> (z. B. </a:t>
            </a:r>
            <a:r>
              <a:rPr lang="en-US" sz="1600" dirty="0" err="1"/>
              <a:t>Erwachsene</a:t>
            </a:r>
            <a:r>
              <a:rPr lang="en-US" sz="1600" dirty="0"/>
              <a:t>) </a:t>
            </a:r>
            <a:r>
              <a:rPr lang="en-US" sz="1600" dirty="0" err="1"/>
              <a:t>oder</a:t>
            </a:r>
            <a:r>
              <a:rPr lang="en-US" sz="1600" dirty="0"/>
              <a:t> Inhalation (z. B. Kinder)</a:t>
            </a:r>
          </a:p>
          <a:p>
            <a:r>
              <a:rPr lang="en-US" sz="1600" dirty="0" err="1"/>
              <a:t>Inhalt</a:t>
            </a:r>
            <a:r>
              <a:rPr lang="en-US" sz="1600" dirty="0"/>
              <a:t> der </a:t>
            </a:r>
            <a:r>
              <a:rPr lang="en-US" sz="1600" dirty="0" err="1"/>
              <a:t>Medikamente</a:t>
            </a:r>
            <a:r>
              <a:rPr lang="en-US" sz="1600" dirty="0"/>
              <a:t>: </a:t>
            </a:r>
            <a:r>
              <a:rPr lang="en-US" sz="1600" dirty="0" err="1"/>
              <a:t>Schmerz</a:t>
            </a:r>
            <a:r>
              <a:rPr lang="en-US" sz="1600" dirty="0"/>
              <a:t>-, </a:t>
            </a:r>
            <a:r>
              <a:rPr lang="en-US" sz="1600" dirty="0" err="1"/>
              <a:t>Schlaf</a:t>
            </a:r>
            <a:r>
              <a:rPr lang="en-US" sz="1600" dirty="0"/>
              <a:t>- und </a:t>
            </a:r>
            <a:r>
              <a:rPr lang="en-US" sz="1600" dirty="0" err="1"/>
              <a:t>Muskelerschlaffungsmittel</a:t>
            </a:r>
            <a:r>
              <a:rPr lang="en-US" sz="1600" dirty="0"/>
              <a:t> </a:t>
            </a:r>
            <a:r>
              <a:rPr lang="en-US" sz="1600" dirty="0" err="1"/>
              <a:t>sowie</a:t>
            </a:r>
            <a:r>
              <a:rPr lang="en-US" sz="1600" dirty="0"/>
              <a:t> Mittel </a:t>
            </a:r>
            <a:r>
              <a:rPr lang="en-US" sz="1600" dirty="0" err="1"/>
              <a:t>zur</a:t>
            </a:r>
            <a:r>
              <a:rPr lang="en-US" sz="1600" dirty="0"/>
              <a:t> </a:t>
            </a:r>
            <a:r>
              <a:rPr lang="en-US" sz="1600" dirty="0" err="1"/>
              <a:t>Regulierung</a:t>
            </a:r>
            <a:r>
              <a:rPr lang="en-US" sz="1600" dirty="0"/>
              <a:t> des </a:t>
            </a:r>
            <a:r>
              <a:rPr lang="en-US" sz="1600" dirty="0" err="1"/>
              <a:t>vegetativen</a:t>
            </a:r>
            <a:r>
              <a:rPr lang="en-US" sz="1600" dirty="0"/>
              <a:t> </a:t>
            </a:r>
            <a:r>
              <a:rPr lang="en-US" sz="1600" dirty="0" err="1"/>
              <a:t>Nervenystems</a:t>
            </a:r>
            <a:endParaRPr lang="en-US" sz="1600" dirty="0"/>
          </a:p>
          <a:p>
            <a:r>
              <a:rPr lang="en-US" sz="1600" dirty="0" err="1"/>
              <a:t>Trachealtubus</a:t>
            </a:r>
            <a:r>
              <a:rPr lang="en-US" sz="1600" dirty="0"/>
              <a:t> (</a:t>
            </a:r>
            <a:r>
              <a:rPr lang="en-US" sz="1600" dirty="0" err="1"/>
              <a:t>Schlauch</a:t>
            </a:r>
            <a:r>
              <a:rPr lang="en-US" sz="1600" dirty="0"/>
              <a:t>), um die </a:t>
            </a:r>
            <a:r>
              <a:rPr lang="en-US" sz="1600" dirty="0" err="1"/>
              <a:t>Atmung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sichern</a:t>
            </a:r>
            <a:endParaRPr lang="en-US" sz="1600" dirty="0"/>
          </a:p>
          <a:p>
            <a:r>
              <a:rPr lang="en-US" sz="1600" dirty="0" err="1"/>
              <a:t>Anäesthesist</a:t>
            </a:r>
            <a:r>
              <a:rPr lang="en-US" sz="1600" dirty="0"/>
              <a:t>/</a:t>
            </a:r>
            <a:r>
              <a:rPr lang="en-US" sz="1600" dirty="0" err="1"/>
              <a:t>Narkosearzt</a:t>
            </a:r>
            <a:r>
              <a:rPr lang="en-US" sz="1600" dirty="0"/>
              <a:t> </a:t>
            </a:r>
            <a:r>
              <a:rPr lang="en-US" sz="1600" dirty="0" err="1"/>
              <a:t>überwacht</a:t>
            </a:r>
            <a:r>
              <a:rPr lang="en-US" sz="1600" dirty="0"/>
              <a:t> und </a:t>
            </a:r>
            <a:r>
              <a:rPr lang="en-US" sz="1600" dirty="0" err="1"/>
              <a:t>reguliert</a:t>
            </a:r>
            <a:r>
              <a:rPr lang="en-US" sz="1600" dirty="0"/>
              <a:t> </a:t>
            </a:r>
            <a:r>
              <a:rPr lang="en-US" sz="1600" dirty="0" err="1"/>
              <a:t>Beatmung</a:t>
            </a:r>
            <a:r>
              <a:rPr lang="en-US" sz="1600" dirty="0"/>
              <a:t> und </a:t>
            </a:r>
            <a:r>
              <a:rPr lang="en-US" sz="1600" dirty="0" err="1"/>
              <a:t>Herz-Kreislauf-Funktionen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549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Anästhesie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/>
              <a:t>Regionalanästhesie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Synonym: ”</a:t>
            </a:r>
            <a:r>
              <a:rPr lang="en-US" sz="1600" dirty="0" err="1"/>
              <a:t>Teilnarkose</a:t>
            </a:r>
            <a:r>
              <a:rPr lang="en-US" sz="1600" dirty="0"/>
              <a:t>”</a:t>
            </a:r>
          </a:p>
          <a:p>
            <a:r>
              <a:rPr lang="en-US" sz="1600" dirty="0" err="1"/>
              <a:t>Für</a:t>
            </a:r>
            <a:r>
              <a:rPr lang="en-US" sz="1600" dirty="0"/>
              <a:t> </a:t>
            </a:r>
            <a:r>
              <a:rPr lang="en-US" sz="1600" dirty="0" err="1"/>
              <a:t>eingegrenzte</a:t>
            </a:r>
            <a:r>
              <a:rPr lang="en-US" sz="1600" dirty="0"/>
              <a:t> </a:t>
            </a:r>
            <a:r>
              <a:rPr lang="en-US" sz="1600" dirty="0" err="1"/>
              <a:t>Körperareale</a:t>
            </a:r>
            <a:endParaRPr lang="en-US" sz="1600" dirty="0"/>
          </a:p>
          <a:p>
            <a:r>
              <a:rPr lang="en-US" sz="1600" dirty="0" err="1"/>
              <a:t>Bewegung</a:t>
            </a:r>
            <a:r>
              <a:rPr lang="en-US" sz="1600" dirty="0"/>
              <a:t> und </a:t>
            </a:r>
            <a:r>
              <a:rPr lang="en-US" sz="1600" dirty="0" err="1"/>
              <a:t>Schmerzempfinden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r>
              <a:rPr lang="en-US" sz="1600" dirty="0"/>
              <a:t> </a:t>
            </a:r>
            <a:r>
              <a:rPr lang="en-US" sz="1600" dirty="0" err="1"/>
              <a:t>gehemmt</a:t>
            </a:r>
            <a:endParaRPr lang="en-US" sz="1600" dirty="0"/>
          </a:p>
          <a:p>
            <a:r>
              <a:rPr lang="en-US" sz="1600" dirty="0" err="1"/>
              <a:t>Währenddessen</a:t>
            </a:r>
            <a:r>
              <a:rPr lang="en-US" sz="1600" dirty="0"/>
              <a:t> </a:t>
            </a:r>
            <a:r>
              <a:rPr lang="en-US" sz="1600" dirty="0" err="1"/>
              <a:t>ist</a:t>
            </a:r>
            <a:r>
              <a:rPr lang="en-US" sz="1600" dirty="0"/>
              <a:t> der Patient </a:t>
            </a:r>
            <a:r>
              <a:rPr lang="en-US" sz="1600" dirty="0" err="1"/>
              <a:t>wach</a:t>
            </a:r>
            <a:endParaRPr lang="en-US" sz="1600" dirty="0"/>
          </a:p>
          <a:p>
            <a:r>
              <a:rPr lang="en-US" sz="1600" dirty="0" err="1"/>
              <a:t>Darf</a:t>
            </a:r>
            <a:r>
              <a:rPr lang="en-US" sz="1600" dirty="0"/>
              <a:t> </a:t>
            </a:r>
            <a:r>
              <a:rPr lang="en-US" sz="1600" b="1" dirty="0"/>
              <a:t>NUR</a:t>
            </a:r>
            <a:r>
              <a:rPr lang="en-US" sz="1600" dirty="0"/>
              <a:t> von </a:t>
            </a:r>
            <a:r>
              <a:rPr lang="en-US" sz="1600" dirty="0" err="1"/>
              <a:t>einem</a:t>
            </a:r>
            <a:r>
              <a:rPr lang="en-US" sz="1600" dirty="0"/>
              <a:t> </a:t>
            </a:r>
            <a:r>
              <a:rPr lang="en-US" sz="1600" dirty="0" err="1"/>
              <a:t>Anästhesisten</a:t>
            </a:r>
            <a:r>
              <a:rPr lang="en-US" sz="1600" dirty="0"/>
              <a:t> </a:t>
            </a:r>
            <a:r>
              <a:rPr lang="en-US" sz="1600" dirty="0" err="1"/>
              <a:t>vollzogen</a:t>
            </a:r>
            <a:r>
              <a:rPr lang="en-US" sz="1600" dirty="0"/>
              <a:t> </a:t>
            </a:r>
            <a:r>
              <a:rPr lang="en-US" sz="1600" dirty="0" err="1"/>
              <a:t>werden</a:t>
            </a:r>
            <a:endParaRPr lang="en-US" sz="1600" dirty="0"/>
          </a:p>
          <a:p>
            <a:r>
              <a:rPr lang="en-US" sz="1600" dirty="0"/>
              <a:t>Es </a:t>
            </a:r>
            <a:r>
              <a:rPr lang="en-US" sz="1600" dirty="0" err="1"/>
              <a:t>gibt</a:t>
            </a:r>
            <a:r>
              <a:rPr lang="en-US" sz="1600" dirty="0"/>
              <a:t> </a:t>
            </a:r>
            <a:r>
              <a:rPr lang="en-US" sz="1600" dirty="0" err="1"/>
              <a:t>unterschiedliche</a:t>
            </a:r>
            <a:r>
              <a:rPr lang="en-US" sz="1600" dirty="0"/>
              <a:t> </a:t>
            </a:r>
            <a:r>
              <a:rPr lang="en-US" sz="1600" dirty="0" err="1"/>
              <a:t>Arten</a:t>
            </a:r>
            <a:r>
              <a:rPr lang="en-US" sz="1600" dirty="0"/>
              <a:t> und </a:t>
            </a:r>
            <a:r>
              <a:rPr lang="en-US" sz="1600" dirty="0" err="1"/>
              <a:t>Weisen</a:t>
            </a:r>
            <a:r>
              <a:rPr lang="en-US" sz="1600" dirty="0"/>
              <a:t> der </a:t>
            </a:r>
            <a:r>
              <a:rPr lang="en-US" sz="1600" dirty="0" err="1"/>
              <a:t>Teilnarkose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854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Anästhesie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/>
              <a:t>Lokalanästhesie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Lokale</a:t>
            </a:r>
            <a:r>
              <a:rPr lang="en-US" sz="1600" dirty="0"/>
              <a:t> </a:t>
            </a:r>
            <a:r>
              <a:rPr lang="en-US" sz="1600" dirty="0" err="1"/>
              <a:t>Betäubung</a:t>
            </a:r>
            <a:endParaRPr lang="en-US" sz="1600" dirty="0"/>
          </a:p>
          <a:p>
            <a:r>
              <a:rPr lang="en-US" sz="1600" dirty="0" err="1"/>
              <a:t>Volles</a:t>
            </a:r>
            <a:r>
              <a:rPr lang="en-US" sz="1600" dirty="0"/>
              <a:t> </a:t>
            </a:r>
            <a:r>
              <a:rPr lang="en-US" sz="1600" dirty="0" err="1"/>
              <a:t>Bewusstsein</a:t>
            </a:r>
            <a:endParaRPr lang="en-US" sz="1600" dirty="0"/>
          </a:p>
          <a:p>
            <a:r>
              <a:rPr lang="en-US" sz="1600" dirty="0" err="1"/>
              <a:t>Injektion</a:t>
            </a:r>
            <a:r>
              <a:rPr lang="en-US" sz="1600" dirty="0"/>
              <a:t> </a:t>
            </a:r>
            <a:r>
              <a:rPr lang="en-US" sz="1600" dirty="0" err="1"/>
              <a:t>durch</a:t>
            </a:r>
            <a:r>
              <a:rPr lang="en-US" sz="1600" dirty="0"/>
              <a:t> </a:t>
            </a:r>
            <a:r>
              <a:rPr lang="en-US" sz="1600" dirty="0" err="1"/>
              <a:t>eine</a:t>
            </a:r>
            <a:r>
              <a:rPr lang="en-US" sz="1600" dirty="0"/>
              <a:t> </a:t>
            </a:r>
            <a:r>
              <a:rPr lang="en-US" sz="1600" dirty="0" err="1"/>
              <a:t>Spritze</a:t>
            </a:r>
            <a:endParaRPr lang="en-US" sz="1600" dirty="0"/>
          </a:p>
          <a:p>
            <a:r>
              <a:rPr lang="en-US" sz="1600" dirty="0" err="1"/>
              <a:t>Signalweiterleitung</a:t>
            </a:r>
            <a:r>
              <a:rPr lang="en-US" sz="1600" dirty="0"/>
              <a:t> der </a:t>
            </a:r>
            <a:r>
              <a:rPr lang="en-US" sz="1600" dirty="0" err="1"/>
              <a:t>Nervenenden</a:t>
            </a:r>
            <a:r>
              <a:rPr lang="en-US" sz="1600" dirty="0"/>
              <a:t> </a:t>
            </a:r>
            <a:r>
              <a:rPr lang="en-US" sz="1600" dirty="0" err="1"/>
              <a:t>werden</a:t>
            </a:r>
            <a:r>
              <a:rPr lang="en-US" sz="1600" dirty="0"/>
              <a:t> </a:t>
            </a:r>
            <a:r>
              <a:rPr lang="en-US" sz="1600" dirty="0" err="1"/>
              <a:t>unerbunden</a:t>
            </a:r>
            <a:endParaRPr lang="en-US" sz="1600" dirty="0"/>
          </a:p>
          <a:p>
            <a:r>
              <a:rPr lang="en-US" sz="1600" dirty="0"/>
              <a:t>Die </a:t>
            </a:r>
            <a:r>
              <a:rPr lang="en-US" sz="1600" dirty="0" err="1"/>
              <a:t>injizierte</a:t>
            </a:r>
            <a:r>
              <a:rPr lang="en-US" sz="1600" dirty="0"/>
              <a:t> </a:t>
            </a:r>
            <a:r>
              <a:rPr lang="en-US" sz="1600" dirty="0" err="1"/>
              <a:t>Fläche</a:t>
            </a:r>
            <a:r>
              <a:rPr lang="en-US" sz="1600" dirty="0"/>
              <a:t> </a:t>
            </a:r>
            <a:r>
              <a:rPr lang="en-US" sz="1600" dirty="0" err="1"/>
              <a:t>verliert</a:t>
            </a:r>
            <a:r>
              <a:rPr lang="en-US" sz="1600" dirty="0"/>
              <a:t> </a:t>
            </a:r>
            <a:r>
              <a:rPr lang="en-US" sz="1600" dirty="0" err="1"/>
              <a:t>bestimmte</a:t>
            </a:r>
            <a:r>
              <a:rPr lang="en-US" sz="1600" dirty="0"/>
              <a:t> </a:t>
            </a:r>
            <a:r>
              <a:rPr lang="en-US" sz="1600" dirty="0" err="1"/>
              <a:t>Empfindungen</a:t>
            </a:r>
            <a:r>
              <a:rPr lang="en-US" sz="1600" dirty="0"/>
              <a:t> und </a:t>
            </a:r>
            <a:r>
              <a:rPr lang="en-US" sz="1600" dirty="0" err="1"/>
              <a:t>Muskelkontrolle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50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Anästhesie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/>
              <a:t>Sedierung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Auch “</a:t>
            </a:r>
            <a:r>
              <a:rPr lang="en-US" sz="1600" dirty="0" err="1"/>
              <a:t>Kurznarkose</a:t>
            </a:r>
            <a:r>
              <a:rPr lang="en-US" sz="1600" dirty="0"/>
              <a:t>” </a:t>
            </a:r>
            <a:r>
              <a:rPr lang="en-US" sz="1600" dirty="0" err="1"/>
              <a:t>genannt</a:t>
            </a:r>
            <a:endParaRPr lang="en-US" sz="1600" dirty="0"/>
          </a:p>
          <a:p>
            <a:r>
              <a:rPr lang="en-US" sz="1600" dirty="0" err="1"/>
              <a:t>Primäres</a:t>
            </a:r>
            <a:r>
              <a:rPr lang="en-US" sz="1600" dirty="0"/>
              <a:t> </a:t>
            </a:r>
            <a:r>
              <a:rPr lang="en-US" sz="1600" dirty="0" err="1"/>
              <a:t>Ziel</a:t>
            </a:r>
            <a:r>
              <a:rPr lang="en-US" sz="1600" dirty="0"/>
              <a:t>: </a:t>
            </a:r>
            <a:r>
              <a:rPr lang="en-US" sz="1600" dirty="0" err="1"/>
              <a:t>Schmerzlinderung</a:t>
            </a:r>
            <a:r>
              <a:rPr lang="en-US" sz="1600" dirty="0"/>
              <a:t> und </a:t>
            </a:r>
            <a:r>
              <a:rPr lang="en-US" sz="1600" dirty="0" err="1"/>
              <a:t>Beruhigung</a:t>
            </a:r>
            <a:endParaRPr lang="en-US" sz="1600" dirty="0"/>
          </a:p>
          <a:p>
            <a:r>
              <a:rPr lang="en-US" sz="1600" dirty="0" err="1"/>
              <a:t>Fließender</a:t>
            </a:r>
            <a:r>
              <a:rPr lang="en-US" sz="1600" dirty="0"/>
              <a:t> </a:t>
            </a:r>
            <a:r>
              <a:rPr lang="en-US" sz="1600" dirty="0" err="1"/>
              <a:t>Übergang</a:t>
            </a:r>
            <a:r>
              <a:rPr lang="en-US" sz="1600" dirty="0"/>
              <a:t> </a:t>
            </a:r>
            <a:r>
              <a:rPr lang="en-US" sz="1600" dirty="0" err="1"/>
              <a:t>zur</a:t>
            </a:r>
            <a:r>
              <a:rPr lang="en-US" sz="1600" dirty="0"/>
              <a:t> </a:t>
            </a:r>
            <a:r>
              <a:rPr lang="en-US" sz="1600" dirty="0" err="1"/>
              <a:t>Vollnarkose</a:t>
            </a:r>
            <a:r>
              <a:rPr lang="en-US" sz="1600" dirty="0"/>
              <a:t> (VN)</a:t>
            </a:r>
          </a:p>
          <a:p>
            <a:r>
              <a:rPr lang="en-US" sz="1600" dirty="0" err="1"/>
              <a:t>Im</a:t>
            </a:r>
            <a:r>
              <a:rPr lang="en-US" sz="1600" dirty="0"/>
              <a:t> </a:t>
            </a:r>
            <a:r>
              <a:rPr lang="en-US" sz="1600" dirty="0" err="1"/>
              <a:t>Gegensatz</a:t>
            </a:r>
            <a:r>
              <a:rPr lang="en-US" sz="1600" dirty="0"/>
              <a:t> </a:t>
            </a:r>
            <a:r>
              <a:rPr lang="en-US" sz="1600" dirty="0" err="1"/>
              <a:t>zur</a:t>
            </a:r>
            <a:r>
              <a:rPr lang="en-US" sz="1600" dirty="0"/>
              <a:t> VN </a:t>
            </a:r>
            <a:r>
              <a:rPr lang="en-US" sz="1600" dirty="0" err="1"/>
              <a:t>ist</a:t>
            </a:r>
            <a:r>
              <a:rPr lang="en-US" sz="1600" dirty="0"/>
              <a:t> die Dauer </a:t>
            </a:r>
            <a:r>
              <a:rPr lang="en-US" sz="1600" dirty="0" err="1"/>
              <a:t>relativ</a:t>
            </a:r>
            <a:r>
              <a:rPr lang="en-US" sz="1600" dirty="0"/>
              <a:t> </a:t>
            </a:r>
            <a:r>
              <a:rPr lang="en-US" sz="1600" dirty="0" err="1"/>
              <a:t>kurz</a:t>
            </a:r>
            <a:endParaRPr lang="en-US" sz="1600" dirty="0"/>
          </a:p>
          <a:p>
            <a:r>
              <a:rPr lang="en-US" sz="1600" dirty="0"/>
              <a:t>Nur </a:t>
            </a:r>
            <a:r>
              <a:rPr lang="en-US" sz="1600" dirty="0" err="1"/>
              <a:t>eine</a:t>
            </a:r>
            <a:r>
              <a:rPr lang="en-US" sz="1600" dirty="0"/>
              <a:t> </a:t>
            </a:r>
            <a:r>
              <a:rPr lang="en-US" sz="1600" dirty="0" err="1"/>
              <a:t>gerine</a:t>
            </a:r>
            <a:r>
              <a:rPr lang="en-US" sz="1600" dirty="0"/>
              <a:t> </a:t>
            </a:r>
            <a:r>
              <a:rPr lang="en-US" sz="1600" dirty="0" err="1"/>
              <a:t>Dosis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r>
              <a:rPr lang="en-US" sz="1600" dirty="0"/>
              <a:t> </a:t>
            </a:r>
            <a:r>
              <a:rPr lang="en-US" sz="1600" dirty="0" err="1"/>
              <a:t>verabreicht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42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prstClr val="white"/>
                </a:solidFill>
              </a:rPr>
              <a:t>Anästhesie</a:t>
            </a:r>
            <a:br>
              <a:rPr lang="en-US" sz="16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</a:t>
            </a:r>
            <a:r>
              <a:rPr lang="en-US" sz="1600" dirty="0" err="1">
                <a:solidFill>
                  <a:prstClr val="white"/>
                </a:solidFill>
              </a:rPr>
              <a:t>Funktionsweise</a:t>
            </a:r>
            <a:r>
              <a:rPr lang="en-US" sz="1600" dirty="0">
                <a:solidFill>
                  <a:prstClr val="white"/>
                </a:solidFill>
              </a:rPr>
              <a:t>/</a:t>
            </a:r>
            <a:r>
              <a:rPr lang="en-US" sz="1600" dirty="0" err="1">
                <a:solidFill>
                  <a:prstClr val="white"/>
                </a:solidFill>
              </a:rPr>
              <a:t>Einleitung</a:t>
            </a:r>
            <a:r>
              <a:rPr lang="en-US" sz="1600" dirty="0">
                <a:solidFill>
                  <a:prstClr val="white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Vor</a:t>
            </a:r>
            <a:r>
              <a:rPr lang="en-US" sz="1600" dirty="0"/>
              <a:t> der </a:t>
            </a:r>
            <a:r>
              <a:rPr lang="en-US" sz="1600" dirty="0" err="1"/>
              <a:t>Narkose</a:t>
            </a:r>
            <a:r>
              <a:rPr lang="en-US" sz="1600" dirty="0"/>
              <a:t> =&gt; Reiner </a:t>
            </a:r>
            <a:r>
              <a:rPr lang="en-US" sz="1600" dirty="0" err="1"/>
              <a:t>Sauerstoff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r>
              <a:rPr lang="en-US" sz="1600" dirty="0"/>
              <a:t> </a:t>
            </a:r>
            <a:r>
              <a:rPr lang="en-US" sz="1600" dirty="0" err="1"/>
              <a:t>inhaliert</a:t>
            </a:r>
            <a:r>
              <a:rPr lang="en-US" sz="1600" dirty="0"/>
              <a:t> =&gt; </a:t>
            </a:r>
            <a:r>
              <a:rPr lang="en-US" sz="1600" dirty="0" err="1"/>
              <a:t>Sauerstoffreserve</a:t>
            </a:r>
            <a:r>
              <a:rPr lang="en-US" sz="1600" dirty="0"/>
              <a:t> </a:t>
            </a:r>
            <a:r>
              <a:rPr lang="en-US" sz="1600" dirty="0" err="1"/>
              <a:t>im</a:t>
            </a:r>
            <a:r>
              <a:rPr lang="en-US" sz="1600" dirty="0"/>
              <a:t> </a:t>
            </a:r>
            <a:r>
              <a:rPr lang="en-US" sz="1600" dirty="0" err="1"/>
              <a:t>Blut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r>
              <a:rPr lang="en-US" sz="1600" dirty="0"/>
              <a:t> </a:t>
            </a:r>
            <a:r>
              <a:rPr lang="en-US" sz="1600" dirty="0" err="1"/>
              <a:t>gewärhleistet</a:t>
            </a:r>
            <a:r>
              <a:rPr lang="en-US" sz="1600" dirty="0"/>
              <a:t> (</a:t>
            </a:r>
            <a:r>
              <a:rPr lang="en-US" sz="1600" dirty="0" err="1"/>
              <a:t>wesentlich</a:t>
            </a:r>
            <a:r>
              <a:rPr lang="en-US" sz="1600" dirty="0"/>
              <a:t> </a:t>
            </a:r>
            <a:r>
              <a:rPr lang="en-US" sz="1600" dirty="0" err="1"/>
              <a:t>für</a:t>
            </a:r>
            <a:r>
              <a:rPr lang="en-US" sz="1600" dirty="0"/>
              <a:t> die Intubation)</a:t>
            </a:r>
          </a:p>
          <a:p>
            <a:r>
              <a:rPr lang="en-US" sz="1600" dirty="0" err="1"/>
              <a:t>Chronologische</a:t>
            </a:r>
            <a:r>
              <a:rPr lang="en-US" sz="1600" dirty="0"/>
              <a:t> </a:t>
            </a:r>
            <a:r>
              <a:rPr lang="en-US" sz="1600" dirty="0" err="1"/>
              <a:t>Verabreichung</a:t>
            </a:r>
            <a:r>
              <a:rPr lang="en-US" sz="1600" dirty="0"/>
              <a:t> </a:t>
            </a:r>
            <a:r>
              <a:rPr lang="en-US" sz="1600" dirty="0" err="1"/>
              <a:t>intravenöser</a:t>
            </a:r>
            <a:r>
              <a:rPr lang="en-US" sz="1600" dirty="0"/>
              <a:t> </a:t>
            </a:r>
            <a:r>
              <a:rPr lang="en-US" sz="1600" dirty="0" err="1"/>
              <a:t>Medikamente</a:t>
            </a:r>
            <a:r>
              <a:rPr lang="en-US" sz="1600" dirty="0"/>
              <a:t>: </a:t>
            </a:r>
            <a:r>
              <a:rPr lang="en-US" sz="1600" dirty="0" err="1"/>
              <a:t>Schmerzmittel</a:t>
            </a:r>
            <a:r>
              <a:rPr lang="en-US" sz="1600" dirty="0"/>
              <a:t>, </a:t>
            </a:r>
            <a:r>
              <a:rPr lang="en-US" sz="1600" dirty="0" err="1"/>
              <a:t>Schlafmittel</a:t>
            </a:r>
            <a:r>
              <a:rPr lang="en-US" sz="1600" dirty="0"/>
              <a:t> (</a:t>
            </a:r>
            <a:r>
              <a:rPr lang="en-US" sz="1600" dirty="0" err="1"/>
              <a:t>hohe</a:t>
            </a:r>
            <a:r>
              <a:rPr lang="en-US" sz="1600" dirty="0"/>
              <a:t> </a:t>
            </a:r>
            <a:r>
              <a:rPr lang="en-US" sz="1600" dirty="0" err="1"/>
              <a:t>Dosis</a:t>
            </a:r>
            <a:r>
              <a:rPr lang="en-US" sz="1600" dirty="0"/>
              <a:t>) =&gt; Patient </a:t>
            </a:r>
            <a:r>
              <a:rPr lang="en-US" sz="1600" dirty="0" err="1"/>
              <a:t>verliert</a:t>
            </a:r>
            <a:r>
              <a:rPr lang="en-US" sz="1600" dirty="0"/>
              <a:t> </a:t>
            </a:r>
            <a:r>
              <a:rPr lang="en-US" sz="1600" dirty="0" err="1"/>
              <a:t>Bewusstsein</a:t>
            </a:r>
            <a:r>
              <a:rPr lang="en-US" sz="1600" dirty="0"/>
              <a:t> und </a:t>
            </a:r>
            <a:r>
              <a:rPr lang="en-US" sz="1600" dirty="0" err="1"/>
              <a:t>Atmungskontrolle</a:t>
            </a:r>
            <a:endParaRPr lang="en-US" sz="1600" dirty="0"/>
          </a:p>
          <a:p>
            <a:r>
              <a:rPr lang="en-US" sz="1600" dirty="0" err="1"/>
              <a:t>Beatmung</a:t>
            </a:r>
            <a:r>
              <a:rPr lang="en-US" sz="1600" dirty="0"/>
              <a:t> </a:t>
            </a:r>
            <a:r>
              <a:rPr lang="en-US" sz="1600" dirty="0" err="1"/>
              <a:t>durch</a:t>
            </a:r>
            <a:r>
              <a:rPr lang="en-US" sz="1600" dirty="0"/>
              <a:t> </a:t>
            </a:r>
            <a:r>
              <a:rPr lang="en-US" sz="1600" dirty="0" err="1"/>
              <a:t>Gesichtsmaske</a:t>
            </a:r>
            <a:r>
              <a:rPr lang="en-US" sz="1600" dirty="0"/>
              <a:t> und </a:t>
            </a:r>
            <a:r>
              <a:rPr lang="en-US" sz="1600" dirty="0" err="1"/>
              <a:t>Beutel</a:t>
            </a:r>
            <a:endParaRPr lang="en-US" sz="1600" dirty="0"/>
          </a:p>
          <a:p>
            <a:r>
              <a:rPr lang="en-US" sz="1600" dirty="0" err="1"/>
              <a:t>Muskelentspannung</a:t>
            </a:r>
            <a:r>
              <a:rPr lang="en-US" sz="1600" dirty="0"/>
              <a:t> (</a:t>
            </a:r>
            <a:r>
              <a:rPr lang="en-US" sz="1600" dirty="0" err="1"/>
              <a:t>intravenös</a:t>
            </a:r>
            <a:r>
              <a:rPr lang="en-US" sz="1600" dirty="0"/>
              <a:t>)</a:t>
            </a:r>
          </a:p>
          <a:p>
            <a:r>
              <a:rPr lang="en-US" sz="1600" dirty="0" err="1"/>
              <a:t>Beatmungsschlauch</a:t>
            </a:r>
            <a:r>
              <a:rPr lang="en-US" sz="1600" dirty="0"/>
              <a:t> </a:t>
            </a:r>
            <a:r>
              <a:rPr lang="en-US" sz="1600" dirty="0" err="1"/>
              <a:t>über</a:t>
            </a:r>
            <a:r>
              <a:rPr lang="en-US" sz="1600" dirty="0"/>
              <a:t> die </a:t>
            </a:r>
            <a:r>
              <a:rPr lang="en-US" sz="1600" dirty="0" err="1"/>
              <a:t>Luftröhre</a:t>
            </a:r>
            <a:r>
              <a:rPr lang="en-US" sz="1600" dirty="0"/>
              <a:t> =&gt; </a:t>
            </a:r>
            <a:r>
              <a:rPr lang="en-US" sz="1600" dirty="0" err="1"/>
              <a:t>maschinelle</a:t>
            </a:r>
            <a:r>
              <a:rPr lang="en-US" sz="1600" dirty="0"/>
              <a:t> </a:t>
            </a:r>
            <a:r>
              <a:rPr lang="en-US" sz="1600" dirty="0" err="1"/>
              <a:t>Beatmung</a:t>
            </a:r>
            <a:endParaRPr lang="en-US" sz="1600" dirty="0"/>
          </a:p>
          <a:p>
            <a:r>
              <a:rPr lang="en-US" sz="1600" dirty="0" err="1"/>
              <a:t>Herz</a:t>
            </a:r>
            <a:r>
              <a:rPr lang="en-US" sz="1600" dirty="0"/>
              <a:t>- und </a:t>
            </a:r>
            <a:r>
              <a:rPr lang="en-US" sz="1600" dirty="0" err="1"/>
              <a:t>Atemfrequenz</a:t>
            </a:r>
            <a:r>
              <a:rPr lang="en-US" sz="1600" dirty="0"/>
              <a:t>, </a:t>
            </a:r>
            <a:r>
              <a:rPr lang="en-US" sz="1600" dirty="0" err="1"/>
              <a:t>Blutdruck</a:t>
            </a:r>
            <a:r>
              <a:rPr lang="en-US" sz="1600" dirty="0"/>
              <a:t> und </a:t>
            </a:r>
            <a:r>
              <a:rPr lang="en-US" sz="1600" dirty="0" err="1"/>
              <a:t>Puls</a:t>
            </a:r>
            <a:r>
              <a:rPr lang="en-US" sz="1600" dirty="0"/>
              <a:t> warden </a:t>
            </a:r>
            <a:r>
              <a:rPr lang="en-US" sz="1600" dirty="0" err="1"/>
              <a:t>ständig</a:t>
            </a:r>
            <a:r>
              <a:rPr lang="en-US" sz="1600" dirty="0"/>
              <a:t> </a:t>
            </a:r>
            <a:r>
              <a:rPr lang="en-US" sz="1600" dirty="0" err="1"/>
              <a:t>überwacht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95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prstClr val="white"/>
                </a:solidFill>
              </a:rPr>
              <a:t>Anästhesie</a:t>
            </a:r>
            <a:br>
              <a:rPr lang="en-US" sz="16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</a:t>
            </a:r>
            <a:r>
              <a:rPr lang="en-US" sz="1600" dirty="0" err="1"/>
              <a:t>Kontinuum</a:t>
            </a:r>
            <a:r>
              <a:rPr lang="en-US" sz="1600" dirty="0"/>
              <a:t> und </a:t>
            </a:r>
            <a:r>
              <a:rPr lang="en-US" sz="1600" dirty="0" err="1"/>
              <a:t>Ausleitung</a:t>
            </a:r>
            <a:r>
              <a:rPr lang="en-US" sz="1600" dirty="0">
                <a:solidFill>
                  <a:prstClr val="white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Automatisierte</a:t>
            </a:r>
            <a:r>
              <a:rPr lang="en-US" sz="1600" dirty="0"/>
              <a:t> </a:t>
            </a:r>
            <a:r>
              <a:rPr lang="en-US" sz="1600" dirty="0" err="1"/>
              <a:t>Spritzenpumpen</a:t>
            </a:r>
            <a:r>
              <a:rPr lang="en-US" sz="1600" dirty="0"/>
              <a:t> </a:t>
            </a:r>
            <a:r>
              <a:rPr lang="en-US" sz="1600" dirty="0" err="1"/>
              <a:t>halten</a:t>
            </a:r>
            <a:r>
              <a:rPr lang="en-US" sz="1600" dirty="0"/>
              <a:t> den </a:t>
            </a:r>
            <a:r>
              <a:rPr lang="en-US" sz="1600" dirty="0" err="1"/>
              <a:t>Tiefschlaf</a:t>
            </a:r>
            <a:r>
              <a:rPr lang="en-US" sz="1600" dirty="0"/>
              <a:t> und die </a:t>
            </a:r>
            <a:r>
              <a:rPr lang="en-US" sz="1600" dirty="0" err="1"/>
              <a:t>Schmerzfreiheit</a:t>
            </a:r>
            <a:r>
              <a:rPr lang="en-US" sz="1600" dirty="0"/>
              <a:t> </a:t>
            </a:r>
            <a:r>
              <a:rPr lang="en-US" sz="1600" dirty="0" err="1"/>
              <a:t>aufrecht</a:t>
            </a:r>
            <a:endParaRPr lang="en-US" sz="1600" dirty="0"/>
          </a:p>
          <a:p>
            <a:r>
              <a:rPr lang="en-US" sz="1600" dirty="0" err="1"/>
              <a:t>Alternativ</a:t>
            </a:r>
            <a:r>
              <a:rPr lang="en-US" sz="1600" dirty="0"/>
              <a:t> </a:t>
            </a:r>
            <a:r>
              <a:rPr lang="en-US" sz="1600" dirty="0" err="1"/>
              <a:t>können</a:t>
            </a:r>
            <a:r>
              <a:rPr lang="en-US" sz="1600" dirty="0"/>
              <a:t> </a:t>
            </a:r>
            <a:r>
              <a:rPr lang="en-US" sz="1600" dirty="0" err="1"/>
              <a:t>auch</a:t>
            </a:r>
            <a:r>
              <a:rPr lang="en-US" sz="1600" dirty="0"/>
              <a:t> “</a:t>
            </a:r>
            <a:r>
              <a:rPr lang="en-US" sz="1600" dirty="0" err="1"/>
              <a:t>Narkosegasverdampfer</a:t>
            </a:r>
            <a:r>
              <a:rPr lang="en-US" sz="1600" dirty="0"/>
              <a:t>” </a:t>
            </a:r>
            <a:r>
              <a:rPr lang="en-US" sz="1600" dirty="0" err="1"/>
              <a:t>eingesetzt</a:t>
            </a:r>
            <a:r>
              <a:rPr lang="en-US" sz="1600" dirty="0"/>
              <a:t> warden</a:t>
            </a:r>
          </a:p>
          <a:p>
            <a:r>
              <a:rPr lang="en-US" sz="1600" dirty="0" err="1"/>
              <a:t>Zum</a:t>
            </a:r>
            <a:r>
              <a:rPr lang="en-US" sz="1600" dirty="0"/>
              <a:t> </a:t>
            </a:r>
            <a:r>
              <a:rPr lang="en-US" sz="1600" dirty="0" err="1"/>
              <a:t>Schluss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r>
              <a:rPr lang="en-US" sz="1600" dirty="0"/>
              <a:t> </a:t>
            </a:r>
            <a:r>
              <a:rPr lang="en-US" sz="1600" dirty="0" err="1"/>
              <a:t>dieser</a:t>
            </a:r>
            <a:r>
              <a:rPr lang="en-US" sz="1600" dirty="0"/>
              <a:t> </a:t>
            </a:r>
            <a:r>
              <a:rPr lang="en-US" sz="1600" dirty="0" err="1"/>
              <a:t>Zulauf</a:t>
            </a:r>
            <a:r>
              <a:rPr lang="en-US" sz="1600" dirty="0"/>
              <a:t> </a:t>
            </a:r>
            <a:r>
              <a:rPr lang="en-US" sz="1600" dirty="0" err="1"/>
              <a:t>abgebrochen</a:t>
            </a:r>
            <a:r>
              <a:rPr lang="en-US" sz="1600" dirty="0"/>
              <a:t> und es </a:t>
            </a:r>
            <a:r>
              <a:rPr lang="en-US" sz="1600" dirty="0" err="1"/>
              <a:t>wird</a:t>
            </a:r>
            <a:r>
              <a:rPr lang="en-US" sz="1600" dirty="0"/>
              <a:t> </a:t>
            </a:r>
            <a:r>
              <a:rPr lang="en-US" sz="1600" dirty="0" err="1"/>
              <a:t>gewartet</a:t>
            </a:r>
            <a:endParaRPr lang="en-US" sz="1600" dirty="0"/>
          </a:p>
          <a:p>
            <a:r>
              <a:rPr lang="en-US" sz="1600" dirty="0" err="1"/>
              <a:t>Wacht</a:t>
            </a:r>
            <a:r>
              <a:rPr lang="en-US" sz="1600" dirty="0"/>
              <a:t> der Patient auf, </a:t>
            </a:r>
            <a:r>
              <a:rPr lang="en-US" sz="1600" dirty="0" err="1"/>
              <a:t>wird</a:t>
            </a:r>
            <a:r>
              <a:rPr lang="en-US" sz="1600" dirty="0"/>
              <a:t> der </a:t>
            </a:r>
            <a:r>
              <a:rPr lang="en-US" sz="1600" dirty="0" err="1"/>
              <a:t>Schlauch</a:t>
            </a:r>
            <a:r>
              <a:rPr lang="en-US" sz="1600" dirty="0"/>
              <a:t> </a:t>
            </a:r>
            <a:r>
              <a:rPr lang="en-US" sz="1600" dirty="0" err="1"/>
              <a:t>entfernt</a:t>
            </a:r>
            <a:r>
              <a:rPr lang="en-US" sz="1600" dirty="0"/>
              <a:t> und </a:t>
            </a:r>
            <a:r>
              <a:rPr lang="en-US" sz="1600" dirty="0" err="1"/>
              <a:t>Speichelreste</a:t>
            </a:r>
            <a:r>
              <a:rPr lang="en-US" sz="1600" dirty="0"/>
              <a:t> </a:t>
            </a:r>
            <a:r>
              <a:rPr lang="en-US" sz="1600" dirty="0" err="1"/>
              <a:t>abgesaugt</a:t>
            </a:r>
            <a:r>
              <a:rPr lang="en-US" sz="1600" dirty="0"/>
              <a:t> =&gt; Patient </a:t>
            </a:r>
            <a:r>
              <a:rPr lang="en-US" sz="1600" dirty="0" err="1"/>
              <a:t>sollte</a:t>
            </a:r>
            <a:r>
              <a:rPr lang="en-US" sz="1600" dirty="0"/>
              <a:t> </a:t>
            </a:r>
            <a:r>
              <a:rPr lang="en-US" sz="1600" dirty="0" err="1"/>
              <a:t>jetzt</a:t>
            </a:r>
            <a:r>
              <a:rPr lang="en-US" sz="1600" dirty="0"/>
              <a:t> </a:t>
            </a:r>
            <a:r>
              <a:rPr lang="en-US" sz="1600" dirty="0" err="1"/>
              <a:t>selbstständig</a:t>
            </a:r>
            <a:r>
              <a:rPr lang="en-US" sz="1600" dirty="0"/>
              <a:t> </a:t>
            </a:r>
            <a:r>
              <a:rPr lang="en-US" sz="1600" dirty="0" err="1"/>
              <a:t>atmen</a:t>
            </a:r>
            <a:r>
              <a:rPr lang="en-US" sz="1600" dirty="0"/>
              <a:t> </a:t>
            </a:r>
            <a:r>
              <a:rPr lang="en-US" sz="1600" dirty="0" err="1"/>
              <a:t>können</a:t>
            </a:r>
            <a:endParaRPr lang="en-US" sz="1600" dirty="0"/>
          </a:p>
          <a:p>
            <a:r>
              <a:rPr lang="en-US" sz="1600" dirty="0" err="1"/>
              <a:t>Anschließend</a:t>
            </a:r>
            <a:r>
              <a:rPr lang="en-US" sz="1600" dirty="0"/>
              <a:t> </a:t>
            </a:r>
            <a:r>
              <a:rPr lang="en-US" sz="1600" dirty="0" err="1"/>
              <a:t>geht</a:t>
            </a:r>
            <a:r>
              <a:rPr lang="en-US" sz="1600" dirty="0"/>
              <a:t> es in den “</a:t>
            </a:r>
            <a:r>
              <a:rPr lang="en-US" sz="1600" dirty="0" err="1"/>
              <a:t>Aufwachraum</a:t>
            </a:r>
            <a:r>
              <a:rPr lang="en-US" sz="1600" dirty="0"/>
              <a:t>”, wo der Patient und seine </a:t>
            </a:r>
            <a:r>
              <a:rPr lang="en-US" sz="1600" dirty="0" err="1"/>
              <a:t>Vitalität</a:t>
            </a:r>
            <a:r>
              <a:rPr lang="en-US" sz="1600" dirty="0"/>
              <a:t> </a:t>
            </a:r>
            <a:r>
              <a:rPr lang="en-US" sz="1600" dirty="0" err="1"/>
              <a:t>überwacht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356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prstClr val="white"/>
                </a:solidFill>
              </a:rPr>
              <a:t>Anästhesie</a:t>
            </a:r>
            <a:br>
              <a:rPr lang="en-US" sz="16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</a:t>
            </a:r>
            <a:r>
              <a:rPr lang="en-US" sz="1600" dirty="0" err="1"/>
              <a:t>Anwendungsbereiche</a:t>
            </a:r>
            <a:r>
              <a:rPr lang="en-US" sz="1600" dirty="0">
                <a:solidFill>
                  <a:prstClr val="white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Krankenhäuser</a:t>
            </a:r>
            <a:endParaRPr lang="en-US" sz="1600" dirty="0"/>
          </a:p>
          <a:p>
            <a:r>
              <a:rPr lang="en-US" sz="1600" dirty="0" err="1"/>
              <a:t>Schmerzambulanzen</a:t>
            </a:r>
            <a:endParaRPr lang="en-US" sz="1600" dirty="0"/>
          </a:p>
          <a:p>
            <a:r>
              <a:rPr lang="en-US" sz="1600" dirty="0"/>
              <a:t>Bei </a:t>
            </a:r>
            <a:r>
              <a:rPr lang="en-US" sz="1600" dirty="0" err="1"/>
              <a:t>Untersuchungen</a:t>
            </a:r>
            <a:endParaRPr lang="en-US" sz="1600" dirty="0"/>
          </a:p>
          <a:p>
            <a:r>
              <a:rPr lang="en-US" sz="1600" dirty="0" err="1"/>
              <a:t>Operationen</a:t>
            </a:r>
            <a:endParaRPr lang="en-US" sz="1600" dirty="0"/>
          </a:p>
          <a:p>
            <a:r>
              <a:rPr lang="en-US" sz="1600" dirty="0"/>
              <a:t>In der </a:t>
            </a:r>
            <a:r>
              <a:rPr lang="en-US" sz="1600" dirty="0" err="1"/>
              <a:t>Notfallmedizin</a:t>
            </a:r>
            <a:endParaRPr lang="en-US" sz="1600" dirty="0"/>
          </a:p>
          <a:p>
            <a:r>
              <a:rPr lang="en-US" sz="1600" dirty="0" err="1"/>
              <a:t>Arztpraxen</a:t>
            </a:r>
            <a:endParaRPr lang="en-US" sz="1600" dirty="0"/>
          </a:p>
          <a:p>
            <a:r>
              <a:rPr lang="en-US" sz="1600" dirty="0" err="1"/>
              <a:t>Pharmaindustrien</a:t>
            </a:r>
            <a:endParaRPr lang="en-US" sz="1600" dirty="0"/>
          </a:p>
          <a:p>
            <a:r>
              <a:rPr lang="en-US" sz="1600" dirty="0" err="1"/>
              <a:t>Für</a:t>
            </a:r>
            <a:r>
              <a:rPr lang="en-US" sz="1600" dirty="0"/>
              <a:t> die </a:t>
            </a:r>
            <a:r>
              <a:rPr lang="en-US" sz="1600" dirty="0" err="1"/>
              <a:t>meisten</a:t>
            </a:r>
            <a:r>
              <a:rPr lang="en-US" sz="1600" dirty="0"/>
              <a:t> </a:t>
            </a:r>
            <a:r>
              <a:rPr lang="en-US" sz="1600" dirty="0" err="1"/>
              <a:t>bekannt</a:t>
            </a:r>
            <a:r>
              <a:rPr lang="en-US" sz="1600" dirty="0"/>
              <a:t>: </a:t>
            </a:r>
            <a:r>
              <a:rPr lang="en-US" sz="1600" dirty="0" err="1"/>
              <a:t>Beim</a:t>
            </a:r>
            <a:r>
              <a:rPr lang="en-US" sz="1600" dirty="0"/>
              <a:t> </a:t>
            </a:r>
            <a:r>
              <a:rPr lang="en-US" sz="1600" dirty="0" err="1"/>
              <a:t>Zahnarzt</a:t>
            </a:r>
            <a:r>
              <a:rPr lang="en-US" sz="1600" dirty="0"/>
              <a:t> (</a:t>
            </a:r>
            <a:r>
              <a:rPr lang="en-US" sz="1600" dirty="0" err="1"/>
              <a:t>meist</a:t>
            </a:r>
            <a:r>
              <a:rPr lang="en-US" sz="1600" dirty="0"/>
              <a:t> </a:t>
            </a:r>
            <a:r>
              <a:rPr lang="en-US" sz="1600" dirty="0" err="1"/>
              <a:t>Lokalanästhesie</a:t>
            </a:r>
            <a:r>
              <a:rPr lang="en-US" sz="1600" dirty="0"/>
              <a:t>)</a:t>
            </a:r>
          </a:p>
          <a:p>
            <a:r>
              <a:rPr lang="en-US" sz="1600" dirty="0" err="1"/>
              <a:t>Lebensnotwendig</a:t>
            </a:r>
            <a:r>
              <a:rPr lang="en-US" sz="1600" dirty="0"/>
              <a:t> </a:t>
            </a:r>
            <a:r>
              <a:rPr lang="en-US" sz="1600" dirty="0" err="1"/>
              <a:t>für</a:t>
            </a:r>
            <a:r>
              <a:rPr lang="en-US" sz="1600" dirty="0"/>
              <a:t> </a:t>
            </a:r>
            <a:r>
              <a:rPr lang="en-US" sz="1600" dirty="0" err="1"/>
              <a:t>Patienten</a:t>
            </a:r>
            <a:r>
              <a:rPr lang="en-US" sz="1600" dirty="0"/>
              <a:t> auf </a:t>
            </a:r>
            <a:r>
              <a:rPr lang="en-US" sz="1600" dirty="0" err="1"/>
              <a:t>Intensivstationen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292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prstClr val="white"/>
                </a:solidFill>
              </a:rPr>
              <a:t>Anästhesie</a:t>
            </a:r>
            <a:br>
              <a:rPr lang="en-US" sz="16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</a:t>
            </a:r>
            <a:r>
              <a:rPr lang="en-US" sz="1600" dirty="0" err="1"/>
              <a:t>Risiken</a:t>
            </a:r>
            <a:r>
              <a:rPr lang="en-US" sz="1600" dirty="0">
                <a:solidFill>
                  <a:prstClr val="white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Im</a:t>
            </a:r>
            <a:r>
              <a:rPr lang="en-US" sz="1600" dirty="0"/>
              <a:t> </a:t>
            </a:r>
            <a:r>
              <a:rPr lang="en-US" sz="1600" dirty="0" err="1"/>
              <a:t>Allgemeinen</a:t>
            </a:r>
            <a:r>
              <a:rPr lang="en-US" sz="1600" dirty="0"/>
              <a:t> </a:t>
            </a:r>
            <a:r>
              <a:rPr lang="en-US" sz="1600" dirty="0" err="1"/>
              <a:t>sind</a:t>
            </a:r>
            <a:r>
              <a:rPr lang="en-US" sz="1600" dirty="0"/>
              <a:t> </a:t>
            </a:r>
            <a:r>
              <a:rPr lang="en-US" sz="1600" dirty="0" err="1"/>
              <a:t>Narkosen</a:t>
            </a:r>
            <a:r>
              <a:rPr lang="en-US" sz="1600" dirty="0"/>
              <a:t> </a:t>
            </a:r>
            <a:r>
              <a:rPr lang="en-US" sz="1600" dirty="0" err="1"/>
              <a:t>sicher</a:t>
            </a:r>
            <a:r>
              <a:rPr lang="en-US" sz="1600" dirty="0"/>
              <a:t> und </a:t>
            </a:r>
            <a:r>
              <a:rPr lang="en-US" sz="1600" dirty="0" err="1"/>
              <a:t>werden</a:t>
            </a:r>
            <a:r>
              <a:rPr lang="en-US" sz="1600" dirty="0"/>
              <a:t> </a:t>
            </a:r>
            <a:r>
              <a:rPr lang="en-US" sz="1600" dirty="0" err="1"/>
              <a:t>sehr</a:t>
            </a:r>
            <a:r>
              <a:rPr lang="en-US" sz="1600" dirty="0"/>
              <a:t> </a:t>
            </a:r>
            <a:r>
              <a:rPr lang="en-US" sz="1600" dirty="0" err="1"/>
              <a:t>penibel</a:t>
            </a:r>
            <a:r>
              <a:rPr lang="en-US" sz="1600" dirty="0"/>
              <a:t> </a:t>
            </a:r>
            <a:r>
              <a:rPr lang="en-US" sz="1600" dirty="0" err="1"/>
              <a:t>überwacht</a:t>
            </a:r>
            <a:endParaRPr lang="en-US" sz="1600" dirty="0"/>
          </a:p>
          <a:p>
            <a:r>
              <a:rPr lang="en-US" sz="1600" dirty="0" err="1"/>
              <a:t>Trotz</a:t>
            </a:r>
            <a:r>
              <a:rPr lang="en-US" sz="1600" dirty="0"/>
              <a:t> </a:t>
            </a:r>
            <a:r>
              <a:rPr lang="en-US" sz="1600" dirty="0" err="1"/>
              <a:t>aller</a:t>
            </a:r>
            <a:r>
              <a:rPr lang="en-US" sz="1600" dirty="0"/>
              <a:t> </a:t>
            </a:r>
            <a:r>
              <a:rPr lang="en-US" sz="1600" dirty="0" err="1"/>
              <a:t>Vorkehrungen</a:t>
            </a:r>
            <a:r>
              <a:rPr lang="en-US" sz="1600" dirty="0"/>
              <a:t> </a:t>
            </a:r>
            <a:r>
              <a:rPr lang="en-US" sz="1600" dirty="0" err="1"/>
              <a:t>können</a:t>
            </a:r>
            <a:r>
              <a:rPr lang="en-US" sz="1600" dirty="0"/>
              <a:t> </a:t>
            </a:r>
            <a:r>
              <a:rPr lang="en-US" sz="1600" dirty="0" err="1"/>
              <a:t>Komplikationen</a:t>
            </a:r>
            <a:r>
              <a:rPr lang="en-US" sz="1600" dirty="0"/>
              <a:t> </a:t>
            </a:r>
            <a:r>
              <a:rPr lang="en-US" sz="1600" dirty="0" err="1"/>
              <a:t>entstehen</a:t>
            </a:r>
            <a:r>
              <a:rPr lang="en-US" sz="1600" dirty="0"/>
              <a:t>; </a:t>
            </a:r>
            <a:r>
              <a:rPr lang="en-US" sz="1600" dirty="0" err="1"/>
              <a:t>auch</a:t>
            </a:r>
            <a:r>
              <a:rPr lang="en-US" sz="1600" dirty="0"/>
              <a:t> </a:t>
            </a:r>
            <a:r>
              <a:rPr lang="en-US" sz="1600" dirty="0" err="1"/>
              <a:t>nach</a:t>
            </a:r>
            <a:r>
              <a:rPr lang="en-US" sz="1600" dirty="0"/>
              <a:t> der </a:t>
            </a:r>
            <a:r>
              <a:rPr lang="en-US" sz="1600" dirty="0" err="1"/>
              <a:t>Narkose</a:t>
            </a:r>
            <a:endParaRPr lang="en-US" sz="1600" dirty="0"/>
          </a:p>
          <a:p>
            <a:r>
              <a:rPr lang="en-US" sz="1600" dirty="0" err="1"/>
              <a:t>Einige</a:t>
            </a:r>
            <a:r>
              <a:rPr lang="en-US" sz="1600" dirty="0"/>
              <a:t> (</a:t>
            </a:r>
            <a:r>
              <a:rPr lang="en-US" sz="1600" dirty="0" err="1"/>
              <a:t>ernste</a:t>
            </a:r>
            <a:r>
              <a:rPr lang="en-US" sz="1600" dirty="0"/>
              <a:t>) </a:t>
            </a:r>
            <a:r>
              <a:rPr lang="en-US" sz="1600" dirty="0" err="1"/>
              <a:t>Probleme</a:t>
            </a:r>
            <a:r>
              <a:rPr lang="en-US" sz="1600" dirty="0"/>
              <a:t>, die </a:t>
            </a:r>
            <a:r>
              <a:rPr lang="en-US" sz="1600" dirty="0" err="1"/>
              <a:t>auftreten</a:t>
            </a:r>
            <a:r>
              <a:rPr lang="en-US" sz="1600" dirty="0"/>
              <a:t> </a:t>
            </a:r>
            <a:r>
              <a:rPr lang="en-US" sz="1600" dirty="0" err="1"/>
              <a:t>können</a:t>
            </a:r>
            <a:r>
              <a:rPr lang="en-US" sz="1600" dirty="0"/>
              <a:t>:</a:t>
            </a:r>
          </a:p>
          <a:p>
            <a:pPr lvl="1"/>
            <a:r>
              <a:rPr lang="en-US" sz="1400" dirty="0" err="1"/>
              <a:t>Lungenentzündung</a:t>
            </a:r>
            <a:r>
              <a:rPr lang="en-US" sz="1400" dirty="0"/>
              <a:t> (z. B. </a:t>
            </a:r>
            <a:r>
              <a:rPr lang="en-US" sz="1400" dirty="0" err="1"/>
              <a:t>durch</a:t>
            </a:r>
            <a:r>
              <a:rPr lang="en-US" sz="1400" dirty="0"/>
              <a:t> </a:t>
            </a:r>
            <a:r>
              <a:rPr lang="en-US" sz="1400" dirty="0" err="1"/>
              <a:t>Übertritt</a:t>
            </a:r>
            <a:r>
              <a:rPr lang="en-US" sz="1400" dirty="0"/>
              <a:t> von </a:t>
            </a:r>
            <a:r>
              <a:rPr lang="en-US" sz="1400" dirty="0" err="1"/>
              <a:t>Magensaft</a:t>
            </a:r>
            <a:r>
              <a:rPr lang="en-US" sz="1400" dirty="0"/>
              <a:t>)</a:t>
            </a:r>
          </a:p>
          <a:p>
            <a:pPr lvl="1"/>
            <a:r>
              <a:rPr lang="en-US" sz="1400" dirty="0" err="1"/>
              <a:t>Kehlkopf</a:t>
            </a:r>
            <a:r>
              <a:rPr lang="en-US" sz="1400" dirty="0"/>
              <a:t>- und </a:t>
            </a:r>
            <a:r>
              <a:rPr lang="en-US" sz="1400" dirty="0" err="1"/>
              <a:t>Zahnverletzungen</a:t>
            </a:r>
            <a:endParaRPr lang="en-US" sz="1400" dirty="0"/>
          </a:p>
          <a:p>
            <a:pPr lvl="1"/>
            <a:r>
              <a:rPr lang="en-US" sz="1400" dirty="0" err="1"/>
              <a:t>Atmungsprobleme</a:t>
            </a:r>
            <a:endParaRPr lang="en-US" sz="1400" dirty="0"/>
          </a:p>
          <a:p>
            <a:pPr lvl="1"/>
            <a:r>
              <a:rPr lang="en-US" sz="1400" dirty="0" err="1"/>
              <a:t>Konzentrations</a:t>
            </a:r>
            <a:r>
              <a:rPr lang="en-US" sz="1400" dirty="0"/>
              <a:t>- und </a:t>
            </a:r>
            <a:r>
              <a:rPr lang="en-US" sz="1400" dirty="0" err="1"/>
              <a:t>Gedächtnisstörungen</a:t>
            </a:r>
            <a:endParaRPr lang="en-US" sz="1400" dirty="0"/>
          </a:p>
          <a:p>
            <a:pPr lvl="1"/>
            <a:r>
              <a:rPr lang="en-US" sz="1400" dirty="0" err="1"/>
              <a:t>Schluckbeschwerden</a:t>
            </a:r>
            <a:r>
              <a:rPr lang="en-US" sz="1400" dirty="0"/>
              <a:t> und </a:t>
            </a:r>
            <a:r>
              <a:rPr lang="en-US" sz="1400" dirty="0" err="1"/>
              <a:t>Übelkeit</a:t>
            </a:r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645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>
                <a:solidFill>
                  <a:schemeClr val="tx1"/>
                </a:solidFill>
              </a:rPr>
              <a:t>Operation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26" name="Picture 2" descr="Surgery | Sepsis Alliance">
            <a:extLst>
              <a:ext uri="{FF2B5EF4-FFF2-40B4-BE49-F238E27FC236}">
                <a16:creationId xmlns:a16="http://schemas.microsoft.com/office/drawing/2014/main" id="{173D1B61-365E-BA47-958C-DB95AC3384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71" y="1669092"/>
            <a:ext cx="5396400" cy="3464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3FF6CC-19CD-1049-AC2F-4C3F4B1A2537}"/>
              </a:ext>
            </a:extLst>
          </p:cNvPr>
          <p:cNvSpPr txBox="1"/>
          <p:nvPr/>
        </p:nvSpPr>
        <p:spPr>
          <a:xfrm>
            <a:off x="5418672" y="5243332"/>
            <a:ext cx="539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Ein Team </a:t>
            </a:r>
            <a:r>
              <a:rPr lang="en-US" sz="1600" dirty="0" err="1"/>
              <a:t>aus</a:t>
            </a:r>
            <a:r>
              <a:rPr lang="en-US" sz="1600" dirty="0"/>
              <a:t> </a:t>
            </a:r>
            <a:r>
              <a:rPr lang="en-US" sz="1600" dirty="0" err="1"/>
              <a:t>Chirurgen</a:t>
            </a:r>
            <a:r>
              <a:rPr lang="en-US" sz="1600" dirty="0"/>
              <a:t> und </a:t>
            </a:r>
            <a:r>
              <a:rPr lang="en-US" sz="1600" dirty="0" err="1"/>
              <a:t>anderen</a:t>
            </a:r>
            <a:r>
              <a:rPr lang="en-US" sz="1600" dirty="0"/>
              <a:t> </a:t>
            </a:r>
            <a:r>
              <a:rPr lang="en-US" sz="1600" dirty="0" err="1"/>
              <a:t>Medizinern</a:t>
            </a:r>
            <a:r>
              <a:rPr lang="en-US" sz="1600" dirty="0"/>
              <a:t> </a:t>
            </a:r>
            <a:r>
              <a:rPr lang="en-US" sz="1600" dirty="0" err="1"/>
              <a:t>während</a:t>
            </a:r>
            <a:r>
              <a:rPr lang="en-US" sz="1600" dirty="0"/>
              <a:t> </a:t>
            </a:r>
            <a:r>
              <a:rPr lang="en-US" sz="1600" dirty="0" err="1"/>
              <a:t>einer</a:t>
            </a:r>
            <a:r>
              <a:rPr lang="en-US" sz="1600" dirty="0"/>
              <a:t> Operation.</a:t>
            </a:r>
          </a:p>
        </p:txBody>
      </p:sp>
    </p:spTree>
    <p:extLst>
      <p:ext uri="{BB962C8B-B14F-4D97-AF65-F5344CB8AC3E}">
        <p14:creationId xmlns:p14="http://schemas.microsoft.com/office/powerpoint/2010/main" val="1509796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ACB7C-CCEC-7048-99DB-749BF68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7" y="1218476"/>
            <a:ext cx="3356871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>
                <a:solidFill>
                  <a:schemeClr val="tx1"/>
                </a:solidFill>
              </a:rPr>
              <a:t>Operation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</a:t>
            </a:r>
            <a:r>
              <a:rPr lang="en-US" sz="1600" dirty="0" err="1">
                <a:solidFill>
                  <a:prstClr val="white"/>
                </a:solidFill>
              </a:rPr>
              <a:t>Beschreibung</a:t>
            </a:r>
            <a:r>
              <a:rPr lang="en-US" sz="1600" dirty="0">
                <a:solidFill>
                  <a:prstClr val="white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E729-3A9D-3D47-860B-E7FC5D4D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Eine Operation </a:t>
            </a:r>
            <a:r>
              <a:rPr lang="en-US" sz="1600" dirty="0" err="1"/>
              <a:t>geschiecht</a:t>
            </a:r>
            <a:r>
              <a:rPr lang="en-US" sz="1600" dirty="0"/>
              <a:t> </a:t>
            </a:r>
            <a:r>
              <a:rPr lang="en-US" sz="1600" dirty="0" err="1"/>
              <a:t>aus</a:t>
            </a:r>
            <a:r>
              <a:rPr lang="en-US" sz="1600" dirty="0"/>
              <a:t> </a:t>
            </a:r>
            <a:r>
              <a:rPr lang="en-US" sz="1600" dirty="0" err="1"/>
              <a:t>folgenden</a:t>
            </a:r>
            <a:r>
              <a:rPr lang="en-US" sz="1600" dirty="0"/>
              <a:t> </a:t>
            </a:r>
            <a:r>
              <a:rPr lang="en-US" sz="1600" dirty="0" err="1"/>
              <a:t>Gründen</a:t>
            </a:r>
            <a:r>
              <a:rPr lang="en-US" sz="1600" dirty="0"/>
              <a:t>: </a:t>
            </a:r>
            <a:r>
              <a:rPr lang="en-US" sz="1600" dirty="0" err="1"/>
              <a:t>Heilung</a:t>
            </a:r>
            <a:r>
              <a:rPr lang="en-US" sz="1600" dirty="0"/>
              <a:t> </a:t>
            </a:r>
            <a:r>
              <a:rPr lang="en-US" sz="1600" dirty="0" err="1"/>
              <a:t>oder</a:t>
            </a:r>
            <a:r>
              <a:rPr lang="en-US" sz="1600" dirty="0"/>
              <a:t> </a:t>
            </a:r>
            <a:r>
              <a:rPr lang="en-US" sz="1600" dirty="0" err="1"/>
              <a:t>Forschung</a:t>
            </a:r>
            <a:endParaRPr lang="en-US" sz="1600" dirty="0"/>
          </a:p>
          <a:p>
            <a:r>
              <a:rPr lang="en-US" sz="1600" dirty="0"/>
              <a:t>Aufklärung und </a:t>
            </a:r>
            <a:r>
              <a:rPr lang="en-US" sz="1600" dirty="0" err="1"/>
              <a:t>Einverständnis</a:t>
            </a:r>
            <a:r>
              <a:rPr lang="en-US" sz="1600" dirty="0"/>
              <a:t> des </a:t>
            </a:r>
            <a:r>
              <a:rPr lang="en-US" sz="1600" dirty="0" err="1"/>
              <a:t>Patienten</a:t>
            </a:r>
            <a:r>
              <a:rPr lang="en-US" sz="1600" dirty="0"/>
              <a:t> </a:t>
            </a:r>
            <a:r>
              <a:rPr lang="en-US" sz="1600" dirty="0" err="1"/>
              <a:t>sind</a:t>
            </a:r>
            <a:r>
              <a:rPr lang="en-US" sz="1600" dirty="0"/>
              <a:t>  </a:t>
            </a:r>
            <a:r>
              <a:rPr lang="en-US" sz="1600" dirty="0" err="1"/>
              <a:t>erforderlich</a:t>
            </a:r>
            <a:r>
              <a:rPr lang="en-US" sz="1600" dirty="0"/>
              <a:t>; </a:t>
            </a:r>
            <a:r>
              <a:rPr lang="en-US" sz="1600" dirty="0" err="1"/>
              <a:t>ansonsten</a:t>
            </a:r>
            <a:r>
              <a:rPr lang="en-US" sz="1600" dirty="0"/>
              <a:t> </a:t>
            </a:r>
            <a:r>
              <a:rPr lang="en-US" sz="1600" dirty="0" err="1"/>
              <a:t>strafrechtlich</a:t>
            </a:r>
            <a:r>
              <a:rPr lang="en-US" sz="1600" dirty="0"/>
              <a:t> </a:t>
            </a:r>
            <a:r>
              <a:rPr lang="en-US" sz="1600" dirty="0" err="1"/>
              <a:t>verfolgbar</a:t>
            </a:r>
            <a:r>
              <a:rPr lang="en-US" sz="1600" dirty="0"/>
              <a:t> =&gt; </a:t>
            </a:r>
            <a:r>
              <a:rPr lang="en-US" sz="1600" dirty="0" err="1"/>
              <a:t>Körpervelertzung</a:t>
            </a:r>
            <a:r>
              <a:rPr lang="en-US" sz="1600" dirty="0"/>
              <a:t> </a:t>
            </a:r>
            <a:r>
              <a:rPr lang="en-US" sz="1600" dirty="0" err="1"/>
              <a:t>nach</a:t>
            </a:r>
            <a:r>
              <a:rPr lang="en-US" sz="1600" dirty="0"/>
              <a:t> § 228 </a:t>
            </a:r>
            <a:r>
              <a:rPr lang="en-US" sz="1600" dirty="0" err="1"/>
              <a:t>StGB</a:t>
            </a:r>
            <a:endParaRPr lang="en-US" sz="1600" dirty="0"/>
          </a:p>
          <a:p>
            <a:r>
              <a:rPr lang="en-US" sz="1600" dirty="0"/>
              <a:t>Sie </a:t>
            </a:r>
            <a:r>
              <a:rPr lang="en-US" sz="1600" dirty="0" err="1"/>
              <a:t>ist</a:t>
            </a:r>
            <a:r>
              <a:rPr lang="en-US" sz="1600" dirty="0"/>
              <a:t> </a:t>
            </a:r>
            <a:r>
              <a:rPr lang="en-US" sz="1600" dirty="0" err="1"/>
              <a:t>ein</a:t>
            </a:r>
            <a:r>
              <a:rPr lang="en-US" sz="1600" dirty="0"/>
              <a:t> </a:t>
            </a:r>
            <a:r>
              <a:rPr lang="en-US" sz="1600" dirty="0" err="1"/>
              <a:t>chirurgischer</a:t>
            </a:r>
            <a:r>
              <a:rPr lang="en-US" sz="1600" dirty="0"/>
              <a:t> </a:t>
            </a:r>
            <a:r>
              <a:rPr lang="en-US" sz="1600" dirty="0" err="1"/>
              <a:t>Eingriff</a:t>
            </a:r>
            <a:r>
              <a:rPr lang="en-US" sz="1600" dirty="0"/>
              <a:t> </a:t>
            </a:r>
            <a:r>
              <a:rPr lang="en-US" sz="1600" dirty="0" err="1"/>
              <a:t>mithilfe</a:t>
            </a:r>
            <a:r>
              <a:rPr lang="en-US" sz="1600" dirty="0"/>
              <a:t> von </a:t>
            </a:r>
            <a:r>
              <a:rPr lang="en-US" sz="1600" dirty="0" err="1"/>
              <a:t>bestimmten</a:t>
            </a:r>
            <a:r>
              <a:rPr lang="en-US" sz="1600" dirty="0"/>
              <a:t> </a:t>
            </a:r>
            <a:r>
              <a:rPr lang="en-US" sz="1600" dirty="0" err="1"/>
              <a:t>Werkzeugen</a:t>
            </a:r>
            <a:r>
              <a:rPr lang="en-US" sz="1600" dirty="0"/>
              <a:t>/</a:t>
            </a:r>
            <a:r>
              <a:rPr lang="en-US" sz="1600" dirty="0" err="1"/>
              <a:t>Instrumenten</a:t>
            </a:r>
            <a:endParaRPr lang="en-US" sz="1600" dirty="0"/>
          </a:p>
          <a:p>
            <a:r>
              <a:rPr lang="en-US" sz="1600" dirty="0" err="1"/>
              <a:t>Dabei</a:t>
            </a:r>
            <a:r>
              <a:rPr lang="en-US" sz="1600" dirty="0"/>
              <a:t> </a:t>
            </a:r>
            <a:r>
              <a:rPr lang="en-US" sz="1600" dirty="0" err="1"/>
              <a:t>erfolgt</a:t>
            </a:r>
            <a:r>
              <a:rPr lang="en-US" sz="1600" dirty="0"/>
              <a:t> </a:t>
            </a:r>
            <a:r>
              <a:rPr lang="en-US" sz="1600" dirty="0" err="1"/>
              <a:t>sie</a:t>
            </a:r>
            <a:r>
              <a:rPr lang="en-US" sz="1600" dirty="0"/>
              <a:t> “</a:t>
            </a:r>
            <a:r>
              <a:rPr lang="en-US" sz="1600" dirty="0" err="1"/>
              <a:t>invasiv</a:t>
            </a:r>
            <a:r>
              <a:rPr lang="en-US" sz="1600" dirty="0"/>
              <a:t>”, und </a:t>
            </a:r>
            <a:r>
              <a:rPr lang="en-US" sz="1600" dirty="0" err="1"/>
              <a:t>verletzt</a:t>
            </a:r>
            <a:r>
              <a:rPr lang="en-US" sz="1600" dirty="0"/>
              <a:t> </a:t>
            </a:r>
            <a:r>
              <a:rPr lang="en-US" sz="1600" dirty="0" err="1"/>
              <a:t>damit</a:t>
            </a:r>
            <a:r>
              <a:rPr lang="en-US" sz="1600" dirty="0"/>
              <a:t> die </a:t>
            </a:r>
            <a:r>
              <a:rPr lang="en-US" sz="1600" dirty="0" err="1"/>
              <a:t>Makellosigkeit</a:t>
            </a:r>
            <a:r>
              <a:rPr lang="en-US" sz="1600" dirty="0"/>
              <a:t>/</a:t>
            </a:r>
            <a:r>
              <a:rPr lang="en-US" sz="1600" dirty="0" err="1"/>
              <a:t>Integrität</a:t>
            </a:r>
            <a:r>
              <a:rPr lang="en-US" sz="1600" dirty="0"/>
              <a:t> des </a:t>
            </a:r>
            <a:r>
              <a:rPr lang="en-US" sz="1600" dirty="0" err="1"/>
              <a:t>Körpers</a:t>
            </a:r>
            <a:r>
              <a:rPr lang="en-US" sz="1600" dirty="0"/>
              <a:t>, da in den </a:t>
            </a:r>
            <a:r>
              <a:rPr lang="en-US" sz="1600" dirty="0" err="1"/>
              <a:t>Körper</a:t>
            </a:r>
            <a:r>
              <a:rPr lang="en-US" sz="1600" dirty="0"/>
              <a:t> </a:t>
            </a:r>
            <a:r>
              <a:rPr lang="en-US" sz="1600" dirty="0" err="1"/>
              <a:t>eingedrungen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endParaRPr lang="en-US" sz="1600" dirty="0"/>
          </a:p>
          <a:p>
            <a:r>
              <a:rPr lang="en-US" sz="1600" dirty="0" err="1"/>
              <a:t>Neben</a:t>
            </a:r>
            <a:r>
              <a:rPr lang="en-US" sz="1600" dirty="0"/>
              <a:t> der </a:t>
            </a:r>
            <a:r>
              <a:rPr lang="en-US" sz="1600" dirty="0" err="1"/>
              <a:t>Chirurgie</a:t>
            </a:r>
            <a:r>
              <a:rPr lang="en-US" sz="1600" dirty="0"/>
              <a:t> </a:t>
            </a:r>
            <a:r>
              <a:rPr lang="en-US" sz="1600" dirty="0" err="1"/>
              <a:t>gibt</a:t>
            </a:r>
            <a:r>
              <a:rPr lang="en-US" sz="1600" dirty="0"/>
              <a:t> es </a:t>
            </a:r>
            <a:r>
              <a:rPr lang="en-US" sz="1600" dirty="0" err="1"/>
              <a:t>auch</a:t>
            </a:r>
            <a:r>
              <a:rPr lang="en-US" sz="1600" dirty="0"/>
              <a:t> </a:t>
            </a:r>
            <a:r>
              <a:rPr lang="en-US" sz="1600" dirty="0" err="1"/>
              <a:t>andere</a:t>
            </a:r>
            <a:r>
              <a:rPr lang="en-US" sz="1600" dirty="0"/>
              <a:t> </a:t>
            </a:r>
            <a:r>
              <a:rPr lang="en-US" sz="1600" dirty="0" err="1"/>
              <a:t>Gebiete</a:t>
            </a:r>
            <a:r>
              <a:rPr lang="en-US" sz="1600" dirty="0"/>
              <a:t>, die </a:t>
            </a:r>
            <a:r>
              <a:rPr lang="en-US" sz="1600" dirty="0" err="1"/>
              <a:t>eine</a:t>
            </a:r>
            <a:r>
              <a:rPr lang="en-US" sz="1600" dirty="0"/>
              <a:t> Operation </a:t>
            </a:r>
            <a:r>
              <a:rPr lang="en-US" sz="1600" dirty="0" err="1"/>
              <a:t>durchführen</a:t>
            </a:r>
            <a:r>
              <a:rPr lang="en-US" sz="1600" dirty="0"/>
              <a:t> </a:t>
            </a:r>
            <a:r>
              <a:rPr lang="en-US" sz="1600" dirty="0" err="1"/>
              <a:t>wie</a:t>
            </a:r>
            <a:r>
              <a:rPr lang="en-US" sz="1600" dirty="0"/>
              <a:t> z .B. die </a:t>
            </a:r>
            <a:r>
              <a:rPr lang="en-US" sz="1600" dirty="0" err="1"/>
              <a:t>Dermatologie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E94E-C5D6-D944-A2A2-902A4332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AD7F-3511-F14A-BF93-B3933BD1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939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mbroise Paré (vers 1509-1590) - Le Point">
            <a:extLst>
              <a:ext uri="{FF2B5EF4-FFF2-40B4-BE49-F238E27FC236}">
                <a16:creationId xmlns:a16="http://schemas.microsoft.com/office/drawing/2014/main" id="{92A62A9B-3F6D-F344-BD8E-BED1A80DB0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6" r="28116"/>
          <a:stretch/>
        </p:blipFill>
        <p:spPr bwMode="auto">
          <a:xfrm>
            <a:off x="6108700" y="-1"/>
            <a:ext cx="609445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2" name="Freeform 16">
            <a:extLst>
              <a:ext uri="{FF2B5EF4-FFF2-40B4-BE49-F238E27FC236}">
                <a16:creationId xmlns:a16="http://schemas.microsoft.com/office/drawing/2014/main" id="{3994EE40-F54F-48E5-826B-B45158209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485467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78A0A-7CD1-0145-B1ED-706279C8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5070100" cy="155941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/>
              <a:t>“To eliminate that which is superfluous, restore that which has been dislocated, separate that which has been united, join that which has been divided and repair the defects of nature.”</a:t>
            </a:r>
            <a:endParaRPr lang="en-US" sz="2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A157E-806A-8A42-A702-9CB050E78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13000"/>
            <a:ext cx="5055923" cy="3632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err="1"/>
              <a:t>Ambroise</a:t>
            </a:r>
            <a:r>
              <a:rPr lang="en-US" dirty="0"/>
              <a:t> </a:t>
            </a:r>
            <a:r>
              <a:rPr lang="en-US" dirty="0" err="1"/>
              <a:t>Paré</a:t>
            </a:r>
            <a:r>
              <a:rPr lang="en-US" dirty="0"/>
              <a:t> (1510 - 1590)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Französischer</a:t>
            </a:r>
            <a:r>
              <a:rPr lang="en-US" dirty="0"/>
              <a:t> </a:t>
            </a:r>
            <a:r>
              <a:rPr lang="en-US" dirty="0" err="1"/>
              <a:t>Chirurg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Militärchirurg</a:t>
            </a:r>
            <a:r>
              <a:rPr lang="en-US" dirty="0"/>
              <a:t> und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wichtige</a:t>
            </a:r>
            <a:r>
              <a:rPr lang="en-US" dirty="0"/>
              <a:t> </a:t>
            </a:r>
            <a:r>
              <a:rPr lang="en-US" dirty="0" err="1"/>
              <a:t>Persönlichkeit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die </a:t>
            </a:r>
            <a:r>
              <a:rPr lang="en-US" dirty="0" err="1"/>
              <a:t>moderne</a:t>
            </a:r>
            <a:r>
              <a:rPr lang="en-US" dirty="0"/>
              <a:t> </a:t>
            </a:r>
            <a:r>
              <a:rPr lang="en-US" dirty="0" err="1"/>
              <a:t>Chirurgie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D9DAF-17FE-7B42-B824-33DD4A56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1514" y="6041362"/>
            <a:ext cx="45632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Name: Serkan Atay | Fachbereich 2 | Matrikelnummer: 1207077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26BC4-A2B3-7545-972E-97BB975F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8331" y="5915888"/>
            <a:ext cx="1062155" cy="49059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208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835A5-DCFA-2D41-8EC4-ACB3E745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Geschichte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F1C4-8E73-724F-B916-88A70021A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Überblick</a:t>
            </a:r>
            <a:endParaRPr lang="en-US" sz="1600" dirty="0"/>
          </a:p>
          <a:p>
            <a:r>
              <a:rPr lang="en-US" sz="1600" dirty="0" err="1"/>
              <a:t>Antike</a:t>
            </a:r>
            <a:endParaRPr lang="en-US" sz="1600" dirty="0"/>
          </a:p>
          <a:p>
            <a:r>
              <a:rPr lang="en-US" sz="1600" dirty="0" err="1"/>
              <a:t>Mittelalter</a:t>
            </a:r>
            <a:endParaRPr lang="en-US" sz="1600" dirty="0"/>
          </a:p>
          <a:p>
            <a:r>
              <a:rPr lang="en-US" sz="1600" dirty="0" err="1"/>
              <a:t>Frühneuzeitliches</a:t>
            </a:r>
            <a:r>
              <a:rPr lang="en-US" sz="1600" dirty="0"/>
              <a:t> Europa</a:t>
            </a:r>
          </a:p>
          <a:p>
            <a:r>
              <a:rPr lang="en-US" sz="1600" dirty="0" err="1"/>
              <a:t>Moderne</a:t>
            </a:r>
            <a:r>
              <a:rPr lang="en-US" sz="1600" dirty="0"/>
              <a:t> </a:t>
            </a:r>
            <a:r>
              <a:rPr lang="en-US" sz="1600" dirty="0" err="1"/>
              <a:t>Chirurgie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0E864-70DD-5243-9E94-29F381E2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991BC-FAB5-DD40-A140-09D2DC1E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537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835A5-DCFA-2D41-8EC4-ACB3E745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prstClr val="white"/>
                </a:solidFill>
              </a:rPr>
              <a:t>Geschichte</a:t>
            </a:r>
            <a:br>
              <a:rPr lang="en-US" sz="32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</a:t>
            </a:r>
            <a:r>
              <a:rPr lang="en-US" sz="1600" dirty="0" err="1">
                <a:solidFill>
                  <a:prstClr val="white"/>
                </a:solidFill>
              </a:rPr>
              <a:t>Überblick</a:t>
            </a:r>
            <a:r>
              <a:rPr lang="en-US" sz="1600" dirty="0">
                <a:solidFill>
                  <a:prstClr val="white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F1C4-8E73-724F-B916-88A70021A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Teilgebiet</a:t>
            </a:r>
            <a:r>
              <a:rPr lang="en-US" sz="1600" dirty="0"/>
              <a:t> der </a:t>
            </a:r>
            <a:r>
              <a:rPr lang="en-US" sz="1600" dirty="0" err="1"/>
              <a:t>Medizin</a:t>
            </a:r>
            <a:endParaRPr lang="en-US" sz="1600" dirty="0"/>
          </a:p>
          <a:p>
            <a:r>
              <a:rPr lang="en-US" sz="1600" dirty="0"/>
              <a:t>Operative </a:t>
            </a:r>
            <a:r>
              <a:rPr lang="en-US" sz="1600" dirty="0" err="1"/>
              <a:t>Eingriffe</a:t>
            </a:r>
            <a:r>
              <a:rPr lang="en-US" sz="1600" dirty="0"/>
              <a:t>, um die </a:t>
            </a:r>
            <a:r>
              <a:rPr lang="en-US" sz="1600" dirty="0" err="1"/>
              <a:t>Unversehrtheit</a:t>
            </a:r>
            <a:r>
              <a:rPr lang="en-US" sz="1600" dirty="0"/>
              <a:t> des </a:t>
            </a:r>
            <a:r>
              <a:rPr lang="en-US" sz="1600" dirty="0" err="1"/>
              <a:t>Körpers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gewährleisten</a:t>
            </a:r>
            <a:endParaRPr lang="en-US" sz="1600" dirty="0"/>
          </a:p>
          <a:p>
            <a:r>
              <a:rPr lang="en-US" sz="1600" dirty="0" err="1"/>
              <a:t>Behandlung</a:t>
            </a:r>
            <a:r>
              <a:rPr lang="en-US" sz="1600" dirty="0"/>
              <a:t> von </a:t>
            </a:r>
            <a:r>
              <a:rPr lang="en-US" sz="1600" dirty="0" err="1"/>
              <a:t>Verletzungen</a:t>
            </a:r>
            <a:r>
              <a:rPr lang="en-US" sz="1600" dirty="0"/>
              <a:t> und Traumata</a:t>
            </a:r>
          </a:p>
          <a:p>
            <a:r>
              <a:rPr lang="en-US" sz="1600" dirty="0"/>
              <a:t>Kam </a:t>
            </a:r>
            <a:r>
              <a:rPr lang="en-US" sz="1600" dirty="0" err="1"/>
              <a:t>zum</a:t>
            </a:r>
            <a:r>
              <a:rPr lang="en-US" sz="1600" dirty="0"/>
              <a:t> </a:t>
            </a:r>
            <a:r>
              <a:rPr lang="en-US" sz="1600" dirty="0" err="1"/>
              <a:t>Einsatz</a:t>
            </a:r>
            <a:r>
              <a:rPr lang="en-US" sz="1600" dirty="0"/>
              <a:t> </a:t>
            </a:r>
            <a:r>
              <a:rPr lang="en-US" sz="1600" dirty="0" err="1"/>
              <a:t>seitdem</a:t>
            </a:r>
            <a:r>
              <a:rPr lang="en-US" sz="1600" dirty="0"/>
              <a:t> die Menschen </a:t>
            </a:r>
            <a:r>
              <a:rPr lang="en-US" sz="1600" dirty="0" err="1"/>
              <a:t>mit</a:t>
            </a:r>
            <a:r>
              <a:rPr lang="en-US" sz="1600" dirty="0"/>
              <a:t> </a:t>
            </a:r>
            <a:r>
              <a:rPr lang="en-US" sz="1600" dirty="0" err="1"/>
              <a:t>Werkzeugen</a:t>
            </a:r>
            <a:r>
              <a:rPr lang="en-US" sz="1600" dirty="0"/>
              <a:t> </a:t>
            </a:r>
            <a:r>
              <a:rPr lang="en-US" sz="1600" dirty="0" err="1"/>
              <a:t>umzugehen</a:t>
            </a:r>
            <a:r>
              <a:rPr lang="en-US" sz="1600" dirty="0"/>
              <a:t> </a:t>
            </a:r>
            <a:r>
              <a:rPr lang="en-US" sz="1600" dirty="0" err="1"/>
              <a:t>wussten</a:t>
            </a:r>
            <a:endParaRPr lang="en-US" sz="1600" dirty="0"/>
          </a:p>
          <a:p>
            <a:r>
              <a:rPr lang="en-US" sz="1600" dirty="0"/>
              <a:t>3 </a:t>
            </a:r>
            <a:r>
              <a:rPr lang="en-US" sz="1600" dirty="0" err="1"/>
              <a:t>Haupthindernisse</a:t>
            </a:r>
            <a:r>
              <a:rPr lang="en-US" sz="1600" dirty="0"/>
              <a:t> bis </a:t>
            </a:r>
            <a:r>
              <a:rPr lang="en-US" sz="1600" dirty="0" err="1"/>
              <a:t>zur</a:t>
            </a:r>
            <a:r>
              <a:rPr lang="en-US" sz="1600" dirty="0"/>
              <a:t> </a:t>
            </a:r>
            <a:r>
              <a:rPr lang="en-US" sz="1600" dirty="0" err="1"/>
              <a:t>industriellen</a:t>
            </a:r>
            <a:r>
              <a:rPr lang="en-US" sz="1600" dirty="0"/>
              <a:t> Revolution: </a:t>
            </a:r>
            <a:r>
              <a:rPr lang="en-US" sz="1600" dirty="0" err="1"/>
              <a:t>Blutungen</a:t>
            </a:r>
            <a:r>
              <a:rPr lang="en-US" sz="1600" dirty="0"/>
              <a:t>, </a:t>
            </a:r>
            <a:r>
              <a:rPr lang="en-US" sz="1600" dirty="0" err="1"/>
              <a:t>Schmerzen</a:t>
            </a:r>
            <a:r>
              <a:rPr lang="en-US" sz="1600" dirty="0"/>
              <a:t> und </a:t>
            </a:r>
            <a:r>
              <a:rPr lang="en-US" sz="1600" dirty="0" err="1"/>
              <a:t>Infektionen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0E864-70DD-5243-9E94-29F381E2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991BC-FAB5-DD40-A140-09D2DC1E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690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835A5-DCFA-2D41-8EC4-ACB3E745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prstClr val="white"/>
                </a:solidFill>
              </a:rPr>
              <a:t>Geschichte</a:t>
            </a:r>
            <a:br>
              <a:rPr lang="en-US" sz="32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</a:t>
            </a:r>
            <a:r>
              <a:rPr lang="en-US" sz="1600" dirty="0" err="1">
                <a:solidFill>
                  <a:prstClr val="white"/>
                </a:solidFill>
              </a:rPr>
              <a:t>Antike</a:t>
            </a:r>
            <a:r>
              <a:rPr lang="en-US" sz="1600" dirty="0">
                <a:solidFill>
                  <a:prstClr val="white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F1C4-8E73-724F-B916-88A70021A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In der </a:t>
            </a:r>
            <a:r>
              <a:rPr lang="en-US" sz="1600" dirty="0" err="1"/>
              <a:t>Antike</a:t>
            </a:r>
            <a:r>
              <a:rPr lang="en-US" sz="1600" dirty="0"/>
              <a:t> </a:t>
            </a:r>
            <a:r>
              <a:rPr lang="en-US" sz="1600" dirty="0" err="1"/>
              <a:t>haben</a:t>
            </a:r>
            <a:r>
              <a:rPr lang="en-US" sz="1600" dirty="0"/>
              <a:t> die </a:t>
            </a:r>
            <a:r>
              <a:rPr lang="en-US" sz="1600" dirty="0" err="1"/>
              <a:t>Sumerer</a:t>
            </a:r>
            <a:r>
              <a:rPr lang="en-US" sz="1600" dirty="0"/>
              <a:t> </a:t>
            </a:r>
            <a:r>
              <a:rPr lang="en-US" sz="1600" dirty="0" err="1"/>
              <a:t>bereits</a:t>
            </a:r>
            <a:r>
              <a:rPr lang="en-US" sz="1600" dirty="0"/>
              <a:t> </a:t>
            </a:r>
            <a:r>
              <a:rPr lang="en-US" sz="1600" dirty="0" err="1"/>
              <a:t>medizinische</a:t>
            </a:r>
            <a:r>
              <a:rPr lang="en-US" sz="1600" dirty="0"/>
              <a:t> </a:t>
            </a:r>
            <a:r>
              <a:rPr lang="en-US" sz="1600" dirty="0" err="1"/>
              <a:t>Techniken</a:t>
            </a:r>
            <a:r>
              <a:rPr lang="en-US" sz="1600" dirty="0"/>
              <a:t> </a:t>
            </a:r>
            <a:r>
              <a:rPr lang="en-US" sz="1600" dirty="0" err="1"/>
              <a:t>entwickelt</a:t>
            </a:r>
            <a:endParaRPr lang="en-US" sz="1600" dirty="0"/>
          </a:p>
          <a:p>
            <a:r>
              <a:rPr lang="en-US" sz="1600" dirty="0"/>
              <a:t>“Codex </a:t>
            </a:r>
            <a:r>
              <a:rPr lang="en-US" sz="1600" dirty="0" err="1"/>
              <a:t>Hammurapi</a:t>
            </a:r>
            <a:r>
              <a:rPr lang="en-US" sz="1600" dirty="0"/>
              <a:t>” </a:t>
            </a:r>
            <a:r>
              <a:rPr lang="en-US" sz="1600" dirty="0" err="1"/>
              <a:t>enthielt</a:t>
            </a:r>
            <a:r>
              <a:rPr lang="en-US" sz="1600" dirty="0"/>
              <a:t> </a:t>
            </a:r>
            <a:r>
              <a:rPr lang="en-US" sz="1600" dirty="0" err="1"/>
              <a:t>auch</a:t>
            </a:r>
            <a:r>
              <a:rPr lang="en-US" sz="1600" dirty="0"/>
              <a:t> </a:t>
            </a:r>
            <a:r>
              <a:rPr lang="en-US" sz="1600" dirty="0" err="1"/>
              <a:t>schon</a:t>
            </a:r>
            <a:r>
              <a:rPr lang="en-US" sz="1600" dirty="0"/>
              <a:t> </a:t>
            </a:r>
            <a:r>
              <a:rPr lang="en-US" sz="1600" dirty="0" err="1"/>
              <a:t>Regelungen</a:t>
            </a:r>
            <a:r>
              <a:rPr lang="en-US" sz="1600" dirty="0"/>
              <a:t> </a:t>
            </a:r>
            <a:r>
              <a:rPr lang="en-US" sz="1600" dirty="0" err="1"/>
              <a:t>für</a:t>
            </a:r>
            <a:r>
              <a:rPr lang="en-US" sz="1600" dirty="0"/>
              <a:t> </a:t>
            </a:r>
            <a:r>
              <a:rPr lang="en-US" sz="1600" dirty="0" err="1"/>
              <a:t>chirurgische</a:t>
            </a:r>
            <a:r>
              <a:rPr lang="en-US" sz="1600" dirty="0"/>
              <a:t> </a:t>
            </a:r>
            <a:r>
              <a:rPr lang="en-US" sz="1600" dirty="0" err="1"/>
              <a:t>Eingriffe</a:t>
            </a:r>
            <a:r>
              <a:rPr lang="en-US" sz="1600" dirty="0"/>
              <a:t> (18. </a:t>
            </a:r>
            <a:r>
              <a:rPr lang="en-US" sz="1600" dirty="0" err="1"/>
              <a:t>Jhd</a:t>
            </a:r>
            <a:r>
              <a:rPr lang="en-US" sz="1600" dirty="0"/>
              <a:t>. v. Chr. </a:t>
            </a:r>
            <a:r>
              <a:rPr lang="en-US" sz="1600" dirty="0" err="1"/>
              <a:t>Babylonien</a:t>
            </a:r>
            <a:r>
              <a:rPr lang="en-US" sz="1600" dirty="0"/>
              <a:t>)</a:t>
            </a:r>
          </a:p>
          <a:p>
            <a:r>
              <a:rPr lang="en-US" sz="1600" dirty="0"/>
              <a:t>Imhotep, </a:t>
            </a:r>
            <a:r>
              <a:rPr lang="en-US" sz="1600" dirty="0" err="1"/>
              <a:t>im</a:t>
            </a:r>
            <a:r>
              <a:rPr lang="en-US" sz="1600" dirty="0"/>
              <a:t> </a:t>
            </a:r>
            <a:r>
              <a:rPr lang="en-US" sz="1600" dirty="0" err="1"/>
              <a:t>alten</a:t>
            </a:r>
            <a:r>
              <a:rPr lang="en-US" sz="1600" dirty="0"/>
              <a:t> </a:t>
            </a:r>
            <a:r>
              <a:rPr lang="en-US" sz="1600" dirty="0" err="1"/>
              <a:t>Ägypten</a:t>
            </a:r>
            <a:r>
              <a:rPr lang="en-US" sz="1600" dirty="0"/>
              <a:t>, </a:t>
            </a:r>
            <a:r>
              <a:rPr lang="en-US" sz="1600" dirty="0" err="1"/>
              <a:t>schrieb</a:t>
            </a:r>
            <a:r>
              <a:rPr lang="en-US" sz="1600" dirty="0"/>
              <a:t> </a:t>
            </a:r>
            <a:r>
              <a:rPr lang="en-US" sz="1600" dirty="0" err="1"/>
              <a:t>nachweislich</a:t>
            </a:r>
            <a:r>
              <a:rPr lang="en-US" sz="1600" dirty="0"/>
              <a:t> den </a:t>
            </a:r>
            <a:r>
              <a:rPr lang="en-US" sz="1600" dirty="0" err="1"/>
              <a:t>ersten</a:t>
            </a:r>
            <a:r>
              <a:rPr lang="en-US" sz="1600" dirty="0"/>
              <a:t> </a:t>
            </a:r>
            <a:r>
              <a:rPr lang="en-US" sz="1600" dirty="0" err="1"/>
              <a:t>Algorithmus</a:t>
            </a:r>
            <a:r>
              <a:rPr lang="en-US" sz="1600" dirty="0"/>
              <a:t> </a:t>
            </a:r>
            <a:r>
              <a:rPr lang="en-US" sz="1600" dirty="0" err="1"/>
              <a:t>für</a:t>
            </a:r>
            <a:r>
              <a:rPr lang="en-US" sz="1600" dirty="0"/>
              <a:t> </a:t>
            </a:r>
            <a:r>
              <a:rPr lang="en-US" sz="1600" dirty="0" err="1"/>
              <a:t>eine</a:t>
            </a:r>
            <a:r>
              <a:rPr lang="en-US" sz="1600" dirty="0"/>
              <a:t> Operation </a:t>
            </a:r>
            <a:r>
              <a:rPr lang="en-US" sz="1600" dirty="0" err="1"/>
              <a:t>nieder</a:t>
            </a:r>
            <a:endParaRPr lang="en-US" sz="1600" dirty="0"/>
          </a:p>
          <a:p>
            <a:r>
              <a:rPr lang="en-US" sz="1600" dirty="0" err="1"/>
              <a:t>Sushruta</a:t>
            </a:r>
            <a:r>
              <a:rPr lang="en-US" sz="1600" dirty="0"/>
              <a:t> </a:t>
            </a:r>
            <a:r>
              <a:rPr lang="en-US" sz="1600" dirty="0" err="1"/>
              <a:t>aus</a:t>
            </a:r>
            <a:r>
              <a:rPr lang="en-US" sz="1600" dirty="0"/>
              <a:t> </a:t>
            </a:r>
            <a:r>
              <a:rPr lang="en-US" sz="1600" dirty="0" err="1"/>
              <a:t>Indien</a:t>
            </a:r>
            <a:r>
              <a:rPr lang="en-US" sz="1600" dirty="0"/>
              <a:t> (600 v. Chr.), ”</a:t>
            </a:r>
            <a:r>
              <a:rPr lang="en-US" sz="1600" dirty="0" err="1"/>
              <a:t>erster</a:t>
            </a:r>
            <a:r>
              <a:rPr lang="en-US" sz="1600" dirty="0"/>
              <a:t> </a:t>
            </a:r>
            <a:r>
              <a:rPr lang="en-US" sz="1600" dirty="0" err="1"/>
              <a:t>bekannter</a:t>
            </a:r>
            <a:r>
              <a:rPr lang="en-US" sz="1600" dirty="0"/>
              <a:t> </a:t>
            </a:r>
            <a:r>
              <a:rPr lang="en-US" sz="1600" dirty="0" err="1"/>
              <a:t>Chirurg</a:t>
            </a:r>
            <a:r>
              <a:rPr lang="en-US" sz="1600" dirty="0"/>
              <a:t>” (”Father of surgery”)</a:t>
            </a:r>
          </a:p>
          <a:p>
            <a:r>
              <a:rPr lang="en-US" sz="1600" dirty="0" err="1"/>
              <a:t>Im</a:t>
            </a:r>
            <a:r>
              <a:rPr lang="en-US" sz="1600" dirty="0"/>
              <a:t> </a:t>
            </a:r>
            <a:r>
              <a:rPr lang="en-US" sz="1600" dirty="0" err="1"/>
              <a:t>antiken</a:t>
            </a:r>
            <a:r>
              <a:rPr lang="en-US" sz="1600" dirty="0"/>
              <a:t> </a:t>
            </a:r>
            <a:r>
              <a:rPr lang="en-US" sz="1600" dirty="0" err="1"/>
              <a:t>Griechenland</a:t>
            </a:r>
            <a:r>
              <a:rPr lang="en-US" sz="1600" dirty="0"/>
              <a:t> </a:t>
            </a:r>
            <a:r>
              <a:rPr lang="en-US" sz="1600" dirty="0" err="1"/>
              <a:t>galten</a:t>
            </a:r>
            <a:r>
              <a:rPr lang="en-US" sz="1600" dirty="0"/>
              <a:t> </a:t>
            </a:r>
            <a:r>
              <a:rPr lang="en-US" sz="1600" dirty="0" err="1"/>
              <a:t>Chirurgen</a:t>
            </a:r>
            <a:r>
              <a:rPr lang="en-US" sz="1600" dirty="0"/>
              <a:t> </a:t>
            </a:r>
            <a:r>
              <a:rPr lang="en-US" sz="1600" dirty="0" err="1"/>
              <a:t>als</a:t>
            </a:r>
            <a:r>
              <a:rPr lang="en-US" sz="1600" dirty="0"/>
              <a:t> “</a:t>
            </a:r>
            <a:r>
              <a:rPr lang="en-US" sz="1600" dirty="0" err="1"/>
              <a:t>spezialisierte</a:t>
            </a:r>
            <a:r>
              <a:rPr lang="en-US" sz="1600" dirty="0"/>
              <a:t> </a:t>
            </a:r>
            <a:r>
              <a:rPr lang="en-US" sz="1600" dirty="0" err="1"/>
              <a:t>Mediziner</a:t>
            </a:r>
            <a:r>
              <a:rPr lang="en-US" sz="1600" dirty="0"/>
              <a:t> </a:t>
            </a:r>
            <a:r>
              <a:rPr lang="en-US" sz="1600" dirty="0" err="1"/>
              <a:t>oder</a:t>
            </a:r>
            <a:r>
              <a:rPr lang="en-US" sz="1600" dirty="0"/>
              <a:t> Ärzte”</a:t>
            </a:r>
          </a:p>
          <a:p>
            <a:r>
              <a:rPr lang="en-US" sz="1600" dirty="0"/>
              <a:t>Hua </a:t>
            </a:r>
            <a:r>
              <a:rPr lang="en-US" sz="1600" dirty="0" err="1"/>
              <a:t>Tuo</a:t>
            </a:r>
            <a:r>
              <a:rPr lang="en-US" sz="1600" dirty="0"/>
              <a:t> (Han-</a:t>
            </a:r>
            <a:r>
              <a:rPr lang="en-US" sz="1600" dirty="0" err="1"/>
              <a:t>Dynastie</a:t>
            </a:r>
            <a:r>
              <a:rPr lang="en-US" sz="1600" dirty="0"/>
              <a:t>), </a:t>
            </a:r>
            <a:r>
              <a:rPr lang="en-US" sz="1600" dirty="0" err="1"/>
              <a:t>benutzte</a:t>
            </a:r>
            <a:r>
              <a:rPr lang="en-US" sz="1600" dirty="0"/>
              <a:t> </a:t>
            </a:r>
            <a:r>
              <a:rPr lang="en-US" sz="1600" dirty="0" err="1"/>
              <a:t>als</a:t>
            </a:r>
            <a:r>
              <a:rPr lang="en-US" sz="1600" dirty="0"/>
              <a:t> </a:t>
            </a:r>
            <a:r>
              <a:rPr lang="en-US" sz="1600" dirty="0" err="1"/>
              <a:t>erster</a:t>
            </a:r>
            <a:r>
              <a:rPr lang="en-US" sz="1600" dirty="0"/>
              <a:t> </a:t>
            </a:r>
            <a:r>
              <a:rPr lang="en-US" sz="1600" dirty="0" err="1"/>
              <a:t>bekannter</a:t>
            </a:r>
            <a:r>
              <a:rPr lang="en-US" sz="1600" dirty="0"/>
              <a:t> </a:t>
            </a:r>
            <a:r>
              <a:rPr lang="en-US" sz="1600" dirty="0" err="1"/>
              <a:t>Arzt</a:t>
            </a:r>
            <a:r>
              <a:rPr lang="en-US" sz="1600" dirty="0"/>
              <a:t> </a:t>
            </a:r>
            <a:r>
              <a:rPr lang="en-US" sz="1600" dirty="0" err="1"/>
              <a:t>Anästhetika</a:t>
            </a:r>
            <a:r>
              <a:rPr lang="en-US" sz="1600" dirty="0"/>
              <a:t> </a:t>
            </a:r>
            <a:r>
              <a:rPr lang="en-US" sz="1600" dirty="0" err="1"/>
              <a:t>während</a:t>
            </a:r>
            <a:r>
              <a:rPr lang="en-US" sz="1600" dirty="0"/>
              <a:t> </a:t>
            </a:r>
            <a:r>
              <a:rPr lang="en-US" sz="1600" dirty="0" err="1"/>
              <a:t>einer</a:t>
            </a:r>
            <a:r>
              <a:rPr lang="en-US" sz="1600" dirty="0"/>
              <a:t> Operation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0E864-70DD-5243-9E94-29F381E2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991BC-FAB5-DD40-A140-09D2DC1E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190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835A5-DCFA-2D41-8EC4-ACB3E745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prstClr val="white"/>
                </a:solidFill>
              </a:rPr>
              <a:t>Geschichte</a:t>
            </a:r>
            <a:br>
              <a:rPr lang="en-US" sz="32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</a:t>
            </a:r>
            <a:r>
              <a:rPr lang="en-US" sz="1600" dirty="0" err="1">
                <a:solidFill>
                  <a:prstClr val="white"/>
                </a:solidFill>
              </a:rPr>
              <a:t>Mittelalter</a:t>
            </a:r>
            <a:r>
              <a:rPr lang="en-US" sz="1600" dirty="0">
                <a:solidFill>
                  <a:prstClr val="white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F1C4-8E73-724F-B916-88A70021A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Paulus </a:t>
            </a:r>
            <a:r>
              <a:rPr lang="en-US" sz="1600" dirty="0" err="1"/>
              <a:t>Aeginetas</a:t>
            </a:r>
            <a:r>
              <a:rPr lang="en-US" sz="1600" dirty="0"/>
              <a:t> </a:t>
            </a:r>
            <a:r>
              <a:rPr lang="en-US" sz="1600" i="1" dirty="0" err="1"/>
              <a:t>pragmateia</a:t>
            </a:r>
            <a:r>
              <a:rPr lang="en-US" sz="1600" i="1" dirty="0"/>
              <a:t> </a:t>
            </a:r>
            <a:r>
              <a:rPr lang="en-US" sz="1600" dirty="0" err="1"/>
              <a:t>hatte</a:t>
            </a:r>
            <a:r>
              <a:rPr lang="en-US" sz="1600" dirty="0"/>
              <a:t> </a:t>
            </a:r>
            <a:r>
              <a:rPr lang="en-US" sz="1600" dirty="0" err="1"/>
              <a:t>einen</a:t>
            </a:r>
            <a:r>
              <a:rPr lang="en-US" sz="1600" dirty="0"/>
              <a:t> </a:t>
            </a:r>
            <a:r>
              <a:rPr lang="en-US" sz="1600" dirty="0" err="1"/>
              <a:t>großen</a:t>
            </a:r>
            <a:r>
              <a:rPr lang="en-US" sz="1600" dirty="0"/>
              <a:t> </a:t>
            </a:r>
            <a:r>
              <a:rPr lang="en-US" sz="1600" dirty="0" err="1"/>
              <a:t>Einfluss</a:t>
            </a:r>
            <a:r>
              <a:rPr lang="en-US" sz="1600" dirty="0"/>
              <a:t> in der Zeit</a:t>
            </a:r>
          </a:p>
          <a:p>
            <a:r>
              <a:rPr lang="en-US" sz="1600" dirty="0" err="1"/>
              <a:t>Vor</a:t>
            </a:r>
            <a:r>
              <a:rPr lang="en-US" sz="1600" dirty="0"/>
              <a:t> </a:t>
            </a:r>
            <a:r>
              <a:rPr lang="en-US" sz="1600" dirty="0" err="1"/>
              <a:t>allem</a:t>
            </a:r>
            <a:r>
              <a:rPr lang="en-US" sz="1600" dirty="0"/>
              <a:t> auf </a:t>
            </a:r>
            <a:r>
              <a:rPr lang="en-US" sz="1600" dirty="0" err="1"/>
              <a:t>muslimische</a:t>
            </a:r>
            <a:r>
              <a:rPr lang="en-US" sz="1600" dirty="0"/>
              <a:t> Ärzte </a:t>
            </a:r>
            <a:r>
              <a:rPr lang="en-US" sz="1600" dirty="0" err="1"/>
              <a:t>im</a:t>
            </a:r>
            <a:r>
              <a:rPr lang="en-US" sz="1600" dirty="0"/>
              <a:t> </a:t>
            </a:r>
            <a:r>
              <a:rPr lang="en-US" sz="1600" dirty="0" err="1"/>
              <a:t>goldenen</a:t>
            </a:r>
            <a:r>
              <a:rPr lang="en-US" sz="1600" dirty="0"/>
              <a:t> </a:t>
            </a:r>
            <a:r>
              <a:rPr lang="en-US" sz="1600" dirty="0" err="1"/>
              <a:t>Zeitalter</a:t>
            </a:r>
            <a:r>
              <a:rPr lang="en-US" sz="1600" dirty="0"/>
              <a:t> des Islam </a:t>
            </a:r>
            <a:r>
              <a:rPr lang="en-US" sz="1600" dirty="0" err="1"/>
              <a:t>wie</a:t>
            </a:r>
            <a:r>
              <a:rPr lang="en-US" sz="1600" dirty="0"/>
              <a:t> z. B. </a:t>
            </a:r>
            <a:r>
              <a:rPr lang="en-US" sz="1600" dirty="0" err="1"/>
              <a:t>Abulcasis</a:t>
            </a:r>
            <a:endParaRPr lang="en-US" sz="1600" dirty="0"/>
          </a:p>
          <a:p>
            <a:r>
              <a:rPr lang="en-US" sz="1600" dirty="0" err="1"/>
              <a:t>Hunayn</a:t>
            </a:r>
            <a:r>
              <a:rPr lang="en-US" sz="1600" dirty="0"/>
              <a:t> ibn </a:t>
            </a:r>
            <a:r>
              <a:rPr lang="en-US" sz="1600" dirty="0" err="1"/>
              <a:t>Ishaq</a:t>
            </a:r>
            <a:r>
              <a:rPr lang="en-US" sz="1600" dirty="0"/>
              <a:t> (809–873), </a:t>
            </a:r>
            <a:r>
              <a:rPr lang="en-US" sz="1600" dirty="0" err="1"/>
              <a:t>arabischer</a:t>
            </a:r>
            <a:r>
              <a:rPr lang="en-US" sz="1600" dirty="0"/>
              <a:t> Christ, </a:t>
            </a:r>
            <a:r>
              <a:rPr lang="en-US" sz="1600" dirty="0" err="1"/>
              <a:t>übersetzte</a:t>
            </a:r>
            <a:r>
              <a:rPr lang="en-US" sz="1600" dirty="0"/>
              <a:t> </a:t>
            </a:r>
            <a:r>
              <a:rPr lang="en-US" sz="1600" dirty="0" err="1"/>
              <a:t>viele</a:t>
            </a:r>
            <a:r>
              <a:rPr lang="en-US" sz="1600" dirty="0"/>
              <a:t> </a:t>
            </a:r>
            <a:r>
              <a:rPr lang="en-US" sz="1600" dirty="0" err="1"/>
              <a:t>griechisch-medizinisch-wissenschaftliche</a:t>
            </a:r>
            <a:r>
              <a:rPr lang="en-US" sz="1600" dirty="0"/>
              <a:t> </a:t>
            </a:r>
            <a:r>
              <a:rPr lang="en-US" sz="1600" dirty="0" err="1"/>
              <a:t>Texte</a:t>
            </a:r>
            <a:r>
              <a:rPr lang="en-US" sz="1600" dirty="0"/>
              <a:t> </a:t>
            </a:r>
            <a:r>
              <a:rPr lang="en-US" sz="1600" dirty="0" err="1"/>
              <a:t>inklusive</a:t>
            </a:r>
            <a:r>
              <a:rPr lang="en-US" sz="1600" dirty="0"/>
              <a:t> die </a:t>
            </a:r>
            <a:r>
              <a:rPr lang="en-US" sz="1600" dirty="0" err="1"/>
              <a:t>systematische</a:t>
            </a:r>
            <a:r>
              <a:rPr lang="en-US" sz="1600" dirty="0"/>
              <a:t> </a:t>
            </a:r>
            <a:r>
              <a:rPr lang="en-US" sz="1600" dirty="0" err="1"/>
              <a:t>Behandlung</a:t>
            </a:r>
            <a:r>
              <a:rPr lang="en-US" sz="1600" dirty="0"/>
              <a:t> in der </a:t>
            </a:r>
            <a:r>
              <a:rPr lang="en-US" sz="1600" dirty="0" err="1"/>
              <a:t>Ophthalmologie</a:t>
            </a:r>
            <a:endParaRPr lang="en-US" sz="1600" dirty="0"/>
          </a:p>
          <a:p>
            <a:r>
              <a:rPr lang="en-US" sz="1600" dirty="0"/>
              <a:t>”Bader” </a:t>
            </a:r>
            <a:r>
              <a:rPr lang="en-US" sz="1600" dirty="0" err="1"/>
              <a:t>im</a:t>
            </a:r>
            <a:r>
              <a:rPr lang="en-US" sz="1600" dirty="0"/>
              <a:t> 13. </a:t>
            </a:r>
            <a:r>
              <a:rPr lang="en-US" sz="1600" dirty="0" err="1"/>
              <a:t>Jhd</a:t>
            </a:r>
            <a:r>
              <a:rPr lang="en-US" sz="1600" dirty="0"/>
              <a:t>. In Europa </a:t>
            </a:r>
            <a:r>
              <a:rPr lang="en-US" sz="1600" dirty="0" err="1"/>
              <a:t>führten</a:t>
            </a:r>
            <a:r>
              <a:rPr lang="en-US" sz="1600" dirty="0"/>
              <a:t> </a:t>
            </a:r>
            <a:r>
              <a:rPr lang="en-US" sz="1600" dirty="0" err="1"/>
              <a:t>schon</a:t>
            </a:r>
            <a:r>
              <a:rPr lang="en-US" sz="1600" dirty="0"/>
              <a:t> </a:t>
            </a:r>
            <a:r>
              <a:rPr lang="en-US" sz="1600" dirty="0" err="1"/>
              <a:t>frühe</a:t>
            </a:r>
            <a:r>
              <a:rPr lang="en-US" sz="1600" dirty="0"/>
              <a:t> </a:t>
            </a:r>
            <a:r>
              <a:rPr lang="en-US" sz="1600" dirty="0" err="1"/>
              <a:t>Amputationen</a:t>
            </a:r>
            <a:r>
              <a:rPr lang="en-US" sz="1600" dirty="0"/>
              <a:t> </a:t>
            </a:r>
            <a:r>
              <a:rPr lang="en-US" sz="1600" dirty="0" err="1"/>
              <a:t>durch</a:t>
            </a:r>
            <a:endParaRPr lang="en-US" sz="1600" dirty="0"/>
          </a:p>
          <a:p>
            <a:r>
              <a:rPr lang="en-US" sz="1600" i="1" dirty="0"/>
              <a:t>Guy de </a:t>
            </a:r>
            <a:r>
              <a:rPr lang="en-US" sz="1600" i="1" dirty="0" err="1"/>
              <a:t>Chauliac</a:t>
            </a:r>
            <a:r>
              <a:rPr lang="en-US" sz="1600" dirty="0"/>
              <a:t>: Seine Werke </a:t>
            </a:r>
            <a:r>
              <a:rPr lang="en-US" sz="1600" dirty="0" err="1"/>
              <a:t>wie</a:t>
            </a:r>
            <a:r>
              <a:rPr lang="en-US" sz="1600" dirty="0"/>
              <a:t> </a:t>
            </a:r>
            <a:r>
              <a:rPr lang="en-US" sz="1600" i="1" dirty="0" err="1"/>
              <a:t>Chirurgia</a:t>
            </a:r>
            <a:r>
              <a:rPr lang="en-US" sz="1600" i="1" dirty="0"/>
              <a:t> Magna </a:t>
            </a:r>
            <a:r>
              <a:rPr lang="en-US" sz="1600" dirty="0" err="1"/>
              <a:t>hatten</a:t>
            </a:r>
            <a:r>
              <a:rPr lang="en-US" sz="1600" dirty="0"/>
              <a:t> gro0en </a:t>
            </a:r>
            <a:r>
              <a:rPr lang="en-US" sz="1600" dirty="0" err="1"/>
              <a:t>Einfluss</a:t>
            </a:r>
            <a:r>
              <a:rPr lang="en-US" sz="1600" dirty="0"/>
              <a:t> auf die </a:t>
            </a:r>
            <a:r>
              <a:rPr lang="en-US" sz="1600" dirty="0" err="1"/>
              <a:t>damaligen</a:t>
            </a:r>
            <a:r>
              <a:rPr lang="en-US" sz="1600" dirty="0"/>
              <a:t> </a:t>
            </a:r>
            <a:r>
              <a:rPr lang="en-US" sz="1600" dirty="0" err="1"/>
              <a:t>Chirurgen</a:t>
            </a:r>
            <a:endParaRPr lang="en-US" sz="16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0E864-70DD-5243-9E94-29F381E2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991BC-FAB5-DD40-A140-09D2DC1E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818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835A5-DCFA-2D41-8EC4-ACB3E745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prstClr val="white"/>
                </a:solidFill>
              </a:rPr>
              <a:t>Geschichte</a:t>
            </a:r>
            <a:br>
              <a:rPr lang="en-US" sz="32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(Trepanation)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0E864-70DD-5243-9E94-29F381E2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991BC-FAB5-DD40-A140-09D2DC1E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9218" name="Picture 2" descr="Trepanation Painting">
            <a:extLst>
              <a:ext uri="{FF2B5EF4-FFF2-40B4-BE49-F238E27FC236}">
                <a16:creationId xmlns:a16="http://schemas.microsoft.com/office/drawing/2014/main" id="{D71F16B4-6B6D-1349-8715-DFE9C83E00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237" y="1841500"/>
            <a:ext cx="57150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74359EC-3C81-A44A-A19A-6EF9DE2860F1}"/>
              </a:ext>
            </a:extLst>
          </p:cNvPr>
          <p:cNvSpPr/>
          <p:nvPr/>
        </p:nvSpPr>
        <p:spPr>
          <a:xfrm>
            <a:off x="5329237" y="5131305"/>
            <a:ext cx="5715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err="1"/>
              <a:t>Älteste</a:t>
            </a:r>
            <a:r>
              <a:rPr lang="en-US" sz="1600" dirty="0"/>
              <a:t> </a:t>
            </a:r>
            <a:r>
              <a:rPr lang="en-US" sz="1600" dirty="0" err="1"/>
              <a:t>bekannte</a:t>
            </a:r>
            <a:r>
              <a:rPr lang="en-US" sz="1600" dirty="0"/>
              <a:t> Operation, </a:t>
            </a:r>
            <a:r>
              <a:rPr lang="en-US" sz="1600" dirty="0" err="1"/>
              <a:t>bei</a:t>
            </a:r>
            <a:r>
              <a:rPr lang="en-US" sz="1600" dirty="0"/>
              <a:t> der </a:t>
            </a:r>
            <a:r>
              <a:rPr lang="en-US" sz="1600" dirty="0" err="1"/>
              <a:t>ein</a:t>
            </a:r>
            <a:r>
              <a:rPr lang="en-US" sz="1600" dirty="0"/>
              <a:t> Loch in den </a:t>
            </a:r>
            <a:r>
              <a:rPr lang="en-US" sz="1600" dirty="0" err="1"/>
              <a:t>Knochen</a:t>
            </a:r>
            <a:r>
              <a:rPr lang="en-US" sz="1600" dirty="0"/>
              <a:t> (</a:t>
            </a:r>
            <a:r>
              <a:rPr lang="en-US" sz="1600" dirty="0" err="1"/>
              <a:t>hier</a:t>
            </a:r>
            <a:r>
              <a:rPr lang="en-US" sz="1600" dirty="0"/>
              <a:t>: </a:t>
            </a:r>
            <a:r>
              <a:rPr lang="en-US" sz="1600" dirty="0" err="1"/>
              <a:t>Schädel</a:t>
            </a:r>
            <a:r>
              <a:rPr lang="en-US" sz="1600" dirty="0"/>
              <a:t>) </a:t>
            </a:r>
            <a:r>
              <a:rPr lang="en-US" sz="1600" dirty="0" err="1"/>
              <a:t>gebohrt</a:t>
            </a:r>
            <a:r>
              <a:rPr lang="en-US" sz="1600" dirty="0"/>
              <a:t> </a:t>
            </a:r>
            <a:r>
              <a:rPr lang="en-US" sz="1600" dirty="0" err="1"/>
              <a:t>wurde</a:t>
            </a:r>
            <a:r>
              <a:rPr lang="en-US" sz="1600" dirty="0"/>
              <a:t>, um </a:t>
            </a:r>
            <a:r>
              <a:rPr lang="en-US" sz="1600" dirty="0" err="1"/>
              <a:t>Kopfschmerzen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behandeln</a:t>
            </a:r>
            <a:r>
              <a:rPr lang="en-US" sz="1600" dirty="0"/>
              <a:t> </a:t>
            </a:r>
            <a:r>
              <a:rPr lang="en-US" sz="1600" dirty="0" err="1"/>
              <a:t>oder</a:t>
            </a:r>
            <a:r>
              <a:rPr lang="en-US" sz="1600" dirty="0"/>
              <a:t> “</a:t>
            </a:r>
            <a:r>
              <a:rPr lang="en-US" sz="1600" dirty="0" err="1"/>
              <a:t>böse</a:t>
            </a:r>
            <a:r>
              <a:rPr lang="en-US" sz="1600" dirty="0"/>
              <a:t> </a:t>
            </a:r>
            <a:r>
              <a:rPr lang="en-US" sz="1600" dirty="0" err="1"/>
              <a:t>Geister</a:t>
            </a:r>
            <a:r>
              <a:rPr lang="en-US" sz="1600" dirty="0"/>
              <a:t>”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vertreiben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8723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eas Vesalius Biography, Inventions, Education, Awards and Facts - A  Plus Topper">
            <a:extLst>
              <a:ext uri="{FF2B5EF4-FFF2-40B4-BE49-F238E27FC236}">
                <a16:creationId xmlns:a16="http://schemas.microsoft.com/office/drawing/2014/main" id="{8A4D5336-2CCB-7941-9196-9DE49C390D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r="1" b="1"/>
          <a:stretch/>
        </p:blipFill>
        <p:spPr bwMode="auto">
          <a:xfrm>
            <a:off x="6108700" y="-1"/>
            <a:ext cx="609445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Freeform 16">
            <a:extLst>
              <a:ext uri="{FF2B5EF4-FFF2-40B4-BE49-F238E27FC236}">
                <a16:creationId xmlns:a16="http://schemas.microsoft.com/office/drawing/2014/main" id="{3994EE40-F54F-48E5-826B-B45158209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485467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78A0A-7CD1-0145-B1ED-706279C8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5070100" cy="15594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“In our age nothing has been so degraded and then wholly restored as anatomy.”</a:t>
            </a:r>
            <a:endParaRPr lang="en-US" sz="2500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A157E-806A-8A42-A702-9CB050E78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13000"/>
            <a:ext cx="5055923" cy="3632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Andreas Vesalius (1514 - 1564)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Flämischer</a:t>
            </a:r>
            <a:r>
              <a:rPr lang="en-US" dirty="0"/>
              <a:t> </a:t>
            </a:r>
            <a:r>
              <a:rPr lang="en-US" dirty="0" err="1"/>
              <a:t>Chirurg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Autor der </a:t>
            </a:r>
            <a:r>
              <a:rPr lang="en-US" dirty="0" err="1"/>
              <a:t>Buchreihe</a:t>
            </a:r>
            <a:r>
              <a:rPr lang="en-US" dirty="0"/>
              <a:t> “De </a:t>
            </a:r>
            <a:r>
              <a:rPr lang="en-US" dirty="0" err="1"/>
              <a:t>Humani</a:t>
            </a:r>
            <a:r>
              <a:rPr lang="en-US" dirty="0"/>
              <a:t> Corporis </a:t>
            </a:r>
            <a:r>
              <a:rPr lang="en-US" dirty="0" err="1"/>
              <a:t>Fabrica</a:t>
            </a:r>
            <a:r>
              <a:rPr lang="en-US" dirty="0"/>
              <a:t> Libri </a:t>
            </a:r>
            <a:r>
              <a:rPr lang="en-US" dirty="0" err="1"/>
              <a:t>Septem</a:t>
            </a:r>
            <a:r>
              <a:rPr lang="en-US" dirty="0"/>
              <a:t>” </a:t>
            </a:r>
            <a:r>
              <a:rPr lang="en-US" dirty="0" err="1"/>
              <a:t>über</a:t>
            </a:r>
            <a:r>
              <a:rPr lang="en-US" dirty="0"/>
              <a:t> die </a:t>
            </a:r>
            <a:r>
              <a:rPr lang="en-US" dirty="0" err="1"/>
              <a:t>menschliche</a:t>
            </a:r>
            <a:r>
              <a:rPr lang="en-US" dirty="0"/>
              <a:t> </a:t>
            </a:r>
            <a:r>
              <a:rPr lang="en-US" dirty="0" err="1"/>
              <a:t>Anatomie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Gilt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Pionier</a:t>
            </a:r>
            <a:r>
              <a:rPr lang="en-US" dirty="0"/>
              <a:t> und </a:t>
            </a:r>
            <a:r>
              <a:rPr lang="en-US" dirty="0" err="1"/>
              <a:t>Begründer</a:t>
            </a:r>
            <a:r>
              <a:rPr lang="en-US" dirty="0"/>
              <a:t> des </a:t>
            </a:r>
            <a:r>
              <a:rPr lang="en-US" dirty="0" err="1"/>
              <a:t>Konzeptes</a:t>
            </a:r>
            <a:r>
              <a:rPr lang="en-US" dirty="0"/>
              <a:t> der </a:t>
            </a:r>
            <a:r>
              <a:rPr lang="en-US" dirty="0" err="1"/>
              <a:t>menschlichen</a:t>
            </a:r>
            <a:r>
              <a:rPr lang="en-US" dirty="0"/>
              <a:t> </a:t>
            </a:r>
            <a:r>
              <a:rPr lang="en-US" dirty="0" err="1"/>
              <a:t>Anatomie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Prägte</a:t>
            </a:r>
            <a:r>
              <a:rPr lang="en-US" dirty="0"/>
              <a:t> die </a:t>
            </a:r>
            <a:r>
              <a:rPr lang="en-US" dirty="0" err="1"/>
              <a:t>Morphologie</a:t>
            </a:r>
            <a:r>
              <a:rPr lang="en-US" dirty="0"/>
              <a:t> in der </a:t>
            </a:r>
            <a:r>
              <a:rPr lang="en-US" dirty="0" err="1"/>
              <a:t>Medizin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D9DAF-17FE-7B42-B824-33DD4A56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1514" y="6041362"/>
            <a:ext cx="45632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Name: Serkan Atay | Fachbereich 2 | Matrikelnummer: 1207077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26BC4-A2B3-7545-972E-97BB975F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8331" y="5915888"/>
            <a:ext cx="1062155" cy="49059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26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176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835A5-DCFA-2D41-8EC4-ACB3E745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prstClr val="white"/>
                </a:solidFill>
              </a:rPr>
              <a:t>Geschichte</a:t>
            </a:r>
            <a:br>
              <a:rPr lang="en-US" sz="3200" dirty="0">
                <a:solidFill>
                  <a:prstClr val="white"/>
                </a:solidFill>
              </a:rPr>
            </a:br>
            <a:r>
              <a:rPr lang="en-US" sz="1600" dirty="0">
                <a:solidFill>
                  <a:prstClr val="white"/>
                </a:solidFill>
              </a:rPr>
              <a:t>(</a:t>
            </a:r>
            <a:r>
              <a:rPr lang="en-US" sz="1600" dirty="0" err="1">
                <a:solidFill>
                  <a:prstClr val="white"/>
                </a:solidFill>
              </a:rPr>
              <a:t>Moderne</a:t>
            </a:r>
            <a:r>
              <a:rPr lang="en-US" sz="1600" dirty="0">
                <a:solidFill>
                  <a:prstClr val="white"/>
                </a:solidFill>
              </a:rPr>
              <a:t> </a:t>
            </a:r>
            <a:r>
              <a:rPr lang="en-US" sz="1600" dirty="0" err="1">
                <a:solidFill>
                  <a:prstClr val="white"/>
                </a:solidFill>
              </a:rPr>
              <a:t>Chirurgie</a:t>
            </a:r>
            <a:r>
              <a:rPr lang="en-US" sz="1600" dirty="0">
                <a:solidFill>
                  <a:prstClr val="white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F1C4-8E73-724F-B916-88A70021A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Chirurgie</a:t>
            </a:r>
            <a:r>
              <a:rPr lang="en-US" sz="1600" dirty="0"/>
              <a:t> </a:t>
            </a:r>
            <a:r>
              <a:rPr lang="en-US" sz="1600" dirty="0" err="1"/>
              <a:t>lebte</a:t>
            </a:r>
            <a:r>
              <a:rPr lang="en-US" sz="1600" dirty="0"/>
              <a:t> </a:t>
            </a:r>
            <a:r>
              <a:rPr lang="en-US" sz="1600" dirty="0" err="1"/>
              <a:t>eine</a:t>
            </a:r>
            <a:r>
              <a:rPr lang="en-US" sz="1600" dirty="0"/>
              <a:t> </a:t>
            </a:r>
            <a:r>
              <a:rPr lang="en-US" sz="1600" dirty="0" err="1"/>
              <a:t>Auffrischung</a:t>
            </a:r>
            <a:r>
              <a:rPr lang="en-US" sz="1600" dirty="0"/>
              <a:t> in der Zeit der Aufklärung</a:t>
            </a:r>
          </a:p>
          <a:p>
            <a:r>
              <a:rPr lang="en-US" sz="1600" dirty="0"/>
              <a:t>John Hunter </a:t>
            </a:r>
            <a:r>
              <a:rPr lang="en-US" sz="1600" dirty="0" err="1"/>
              <a:t>revolutionierte</a:t>
            </a:r>
            <a:r>
              <a:rPr lang="en-US" sz="1600" dirty="0"/>
              <a:t> die </a:t>
            </a:r>
            <a:r>
              <a:rPr lang="en-US" sz="1600" dirty="0" err="1"/>
              <a:t>Chirurgie</a:t>
            </a:r>
            <a:r>
              <a:rPr lang="en-US" sz="1600" dirty="0"/>
              <a:t>, </a:t>
            </a:r>
            <a:r>
              <a:rPr lang="en-US" sz="1600" dirty="0" err="1"/>
              <a:t>indem</a:t>
            </a:r>
            <a:r>
              <a:rPr lang="en-US" sz="1600" dirty="0"/>
              <a:t> er </a:t>
            </a:r>
            <a:r>
              <a:rPr lang="en-US" sz="1600" dirty="0" err="1"/>
              <a:t>erstmals</a:t>
            </a:r>
            <a:r>
              <a:rPr lang="en-US" sz="1600" dirty="0"/>
              <a:t> von </a:t>
            </a:r>
            <a:r>
              <a:rPr lang="en-US" sz="1600" dirty="0" err="1"/>
              <a:t>Grund</a:t>
            </a:r>
            <a:r>
              <a:rPr lang="en-US" sz="1600" dirty="0"/>
              <a:t> auf auf </a:t>
            </a:r>
            <a:r>
              <a:rPr lang="en-US" sz="1600" dirty="0" err="1"/>
              <a:t>empirische</a:t>
            </a:r>
            <a:r>
              <a:rPr lang="en-US" sz="1600" dirty="0"/>
              <a:t> </a:t>
            </a:r>
            <a:r>
              <a:rPr lang="en-US" sz="1600" dirty="0" err="1"/>
              <a:t>Experimente</a:t>
            </a:r>
            <a:r>
              <a:rPr lang="en-US" sz="1600" dirty="0"/>
              <a:t> </a:t>
            </a:r>
            <a:r>
              <a:rPr lang="en-US" sz="1600" dirty="0" err="1"/>
              <a:t>setzte</a:t>
            </a:r>
            <a:endParaRPr lang="en-US" sz="1600" dirty="0"/>
          </a:p>
          <a:p>
            <a:r>
              <a:rPr lang="en-US" sz="1600" dirty="0"/>
              <a:t>Er </a:t>
            </a:r>
            <a:r>
              <a:rPr lang="en-US" sz="1600" dirty="0" err="1"/>
              <a:t>hatte</a:t>
            </a:r>
            <a:r>
              <a:rPr lang="en-US" sz="1600" dirty="0"/>
              <a:t> </a:t>
            </a:r>
            <a:r>
              <a:rPr lang="en-US" sz="1600" dirty="0" err="1"/>
              <a:t>eine</a:t>
            </a:r>
            <a:r>
              <a:rPr lang="en-US" sz="1600" dirty="0"/>
              <a:t> </a:t>
            </a:r>
            <a:r>
              <a:rPr lang="en-US" sz="1600" dirty="0" err="1"/>
              <a:t>Kollektion</a:t>
            </a:r>
            <a:r>
              <a:rPr lang="en-US" sz="1600" dirty="0"/>
              <a:t> von </a:t>
            </a:r>
            <a:r>
              <a:rPr lang="en-US" sz="1600" dirty="0" err="1"/>
              <a:t>über</a:t>
            </a:r>
            <a:r>
              <a:rPr lang="en-US" sz="1600" dirty="0"/>
              <a:t> 13.000 </a:t>
            </a:r>
            <a:r>
              <a:rPr lang="en-US" sz="1600" dirty="0" err="1"/>
              <a:t>Probanden</a:t>
            </a:r>
            <a:r>
              <a:rPr lang="en-US" sz="1600" dirty="0"/>
              <a:t> </a:t>
            </a:r>
            <a:r>
              <a:rPr lang="en-US" sz="1600" dirty="0" err="1"/>
              <a:t>verschiedenster</a:t>
            </a:r>
            <a:r>
              <a:rPr lang="en-US" sz="1600" dirty="0"/>
              <a:t> </a:t>
            </a:r>
            <a:r>
              <a:rPr lang="en-US" sz="1600" dirty="0" err="1"/>
              <a:t>Arten</a:t>
            </a:r>
            <a:r>
              <a:rPr lang="en-US" sz="1600" dirty="0"/>
              <a:t> und </a:t>
            </a:r>
            <a:r>
              <a:rPr lang="en-US" sz="1600" dirty="0" err="1"/>
              <a:t>Spezies</a:t>
            </a:r>
            <a:endParaRPr lang="en-US" sz="1600" dirty="0"/>
          </a:p>
          <a:p>
            <a:r>
              <a:rPr lang="en-US" sz="1600" dirty="0" err="1"/>
              <a:t>Chemische</a:t>
            </a:r>
            <a:r>
              <a:rPr lang="en-US" sz="1600" dirty="0"/>
              <a:t> </a:t>
            </a:r>
            <a:r>
              <a:rPr lang="en-US" sz="1600" dirty="0" err="1"/>
              <a:t>Elemente</a:t>
            </a:r>
            <a:r>
              <a:rPr lang="en-US" sz="1600" dirty="0"/>
              <a:t>  </a:t>
            </a:r>
            <a:r>
              <a:rPr lang="en-US" sz="1600" dirty="0" err="1"/>
              <a:t>wie</a:t>
            </a:r>
            <a:r>
              <a:rPr lang="en-US" sz="1600" dirty="0"/>
              <a:t> </a:t>
            </a:r>
            <a:r>
              <a:rPr lang="en-US" sz="1600" dirty="0" err="1"/>
              <a:t>Diethylether</a:t>
            </a:r>
            <a:r>
              <a:rPr lang="en-US" sz="1600" dirty="0"/>
              <a:t> </a:t>
            </a:r>
            <a:r>
              <a:rPr lang="en-US" sz="1600" dirty="0" err="1"/>
              <a:t>läuteten</a:t>
            </a:r>
            <a:r>
              <a:rPr lang="en-US" sz="1600" dirty="0"/>
              <a:t> die Zeit der </a:t>
            </a:r>
            <a:r>
              <a:rPr lang="en-US" sz="1600" dirty="0" err="1"/>
              <a:t>modernen</a:t>
            </a:r>
            <a:r>
              <a:rPr lang="en-US" sz="1600" dirty="0"/>
              <a:t> </a:t>
            </a:r>
            <a:r>
              <a:rPr lang="en-US" sz="1600" dirty="0" err="1"/>
              <a:t>Anästhesie</a:t>
            </a:r>
            <a:r>
              <a:rPr lang="en-US" sz="1600" dirty="0"/>
              <a:t> </a:t>
            </a:r>
            <a:r>
              <a:rPr lang="en-US" sz="1600" dirty="0" err="1"/>
              <a:t>ein</a:t>
            </a:r>
            <a:endParaRPr lang="en-US" sz="1600" dirty="0"/>
          </a:p>
          <a:p>
            <a:r>
              <a:rPr lang="en-US" sz="1600" dirty="0"/>
              <a:t>X-rays (</a:t>
            </a:r>
            <a:r>
              <a:rPr lang="en-US" sz="1600" dirty="0" err="1"/>
              <a:t>Röntgenstrahlen</a:t>
            </a:r>
            <a:r>
              <a:rPr lang="en-US" sz="1600" dirty="0"/>
              <a:t>) und </a:t>
            </a:r>
            <a:r>
              <a:rPr lang="en-US" sz="1600" dirty="0" err="1"/>
              <a:t>weitere</a:t>
            </a:r>
            <a:r>
              <a:rPr lang="en-US" sz="1600" dirty="0"/>
              <a:t> </a:t>
            </a:r>
            <a:r>
              <a:rPr lang="en-US" sz="1600" dirty="0" err="1"/>
              <a:t>moderne</a:t>
            </a:r>
            <a:r>
              <a:rPr lang="en-US" sz="1600" dirty="0"/>
              <a:t> </a:t>
            </a:r>
            <a:r>
              <a:rPr lang="en-US" sz="1600" dirty="0" err="1"/>
              <a:t>Technologien</a:t>
            </a:r>
            <a:r>
              <a:rPr lang="en-US" sz="1600" dirty="0"/>
              <a:t> </a:t>
            </a:r>
            <a:r>
              <a:rPr lang="en-US" sz="1600" dirty="0" err="1"/>
              <a:t>hatten</a:t>
            </a:r>
            <a:r>
              <a:rPr lang="en-US" sz="1600" dirty="0"/>
              <a:t> und </a:t>
            </a:r>
            <a:r>
              <a:rPr lang="en-US" sz="1600" dirty="0" err="1"/>
              <a:t>haben</a:t>
            </a:r>
            <a:r>
              <a:rPr lang="en-US" sz="1600" dirty="0"/>
              <a:t> </a:t>
            </a:r>
            <a:r>
              <a:rPr lang="en-US" sz="1600" dirty="0" err="1"/>
              <a:t>weiterhin</a:t>
            </a:r>
            <a:r>
              <a:rPr lang="en-US" sz="1600" dirty="0"/>
              <a:t> </a:t>
            </a:r>
            <a:r>
              <a:rPr lang="en-US" sz="1600" dirty="0" err="1"/>
              <a:t>einen</a:t>
            </a:r>
            <a:r>
              <a:rPr lang="en-US" sz="1600" dirty="0"/>
              <a:t> </a:t>
            </a:r>
            <a:r>
              <a:rPr lang="en-US" sz="1600" dirty="0" err="1"/>
              <a:t>Einfluss</a:t>
            </a:r>
            <a:r>
              <a:rPr lang="en-US" sz="1600" dirty="0"/>
              <a:t> auf das Feld der </a:t>
            </a:r>
            <a:r>
              <a:rPr lang="en-US" sz="1600" dirty="0" err="1"/>
              <a:t>Chirurgie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0E864-70DD-5243-9E94-29F381E2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991BC-FAB5-DD40-A140-09D2DC1E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030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00620-0EA0-324A-A9E0-3AE0592FC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Methoden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0B6E1-55CB-D849-B7A2-02F30D64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Offene</a:t>
            </a:r>
            <a:r>
              <a:rPr lang="en-US" sz="1600" dirty="0"/>
              <a:t> Operation</a:t>
            </a:r>
          </a:p>
          <a:p>
            <a:r>
              <a:rPr lang="en-US" sz="1600" dirty="0"/>
              <a:t>Minimal invasive </a:t>
            </a:r>
            <a:r>
              <a:rPr lang="en-US" sz="1600" dirty="0" err="1"/>
              <a:t>Chirurgie</a:t>
            </a:r>
            <a:endParaRPr lang="en-US" sz="1600" dirty="0"/>
          </a:p>
          <a:p>
            <a:r>
              <a:rPr lang="en-US" sz="1600" dirty="0" err="1"/>
              <a:t>Vergleich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C947A-65CB-134B-ADFC-2BDE253DD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4B64F-F8A5-324D-972A-F404C3DBB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261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8302-54CC-8F4C-A667-89367E4E3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../</a:t>
            </a:r>
            <a:r>
              <a:rPr lang="en-US" dirty="0" err="1"/>
              <a:t>Vergleich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93CEA-967B-9140-A82E-B4EDC6C33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Minimal invasive </a:t>
            </a:r>
            <a:r>
              <a:rPr lang="en-US" dirty="0" err="1"/>
              <a:t>Chirurgie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64DD7-57D4-574A-AFCC-83559A5A1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4729" y="2880091"/>
            <a:ext cx="5189856" cy="3109913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Ziel</a:t>
            </a:r>
            <a:r>
              <a:rPr lang="en-US" dirty="0"/>
              <a:t>: </a:t>
            </a:r>
            <a:r>
              <a:rPr lang="en-US" dirty="0" err="1"/>
              <a:t>Verletzungen</a:t>
            </a:r>
            <a:r>
              <a:rPr lang="en-US" dirty="0"/>
              <a:t> (Traumata) </a:t>
            </a:r>
            <a:r>
              <a:rPr lang="en-US" dirty="0" err="1"/>
              <a:t>beim</a:t>
            </a:r>
            <a:r>
              <a:rPr lang="en-US" dirty="0"/>
              <a:t> </a:t>
            </a:r>
            <a:r>
              <a:rPr lang="en-US" dirty="0" err="1"/>
              <a:t>Eingriff</a:t>
            </a:r>
            <a:r>
              <a:rPr lang="en-US" dirty="0"/>
              <a:t> </a:t>
            </a:r>
            <a:r>
              <a:rPr lang="en-US" dirty="0" err="1"/>
              <a:t>möglichst</a:t>
            </a:r>
            <a:r>
              <a:rPr lang="en-US" dirty="0"/>
              <a:t> </a:t>
            </a:r>
            <a:r>
              <a:rPr lang="en-US" dirty="0" err="1"/>
              <a:t>gering</a:t>
            </a:r>
            <a:r>
              <a:rPr lang="en-US" dirty="0"/>
              <a:t> </a:t>
            </a:r>
            <a:r>
              <a:rPr lang="en-US" dirty="0" err="1"/>
              <a:t>halten</a:t>
            </a:r>
            <a:r>
              <a:rPr lang="en-US" dirty="0"/>
              <a:t> z. B.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Endoskopie</a:t>
            </a:r>
            <a:r>
              <a:rPr lang="en-US" dirty="0"/>
              <a:t> (NOTES)</a:t>
            </a:r>
          </a:p>
          <a:p>
            <a:r>
              <a:rPr lang="en-US" dirty="0" err="1"/>
              <a:t>Vorteil</a:t>
            </a:r>
            <a:r>
              <a:rPr lang="en-US" dirty="0"/>
              <a:t>: </a:t>
            </a:r>
            <a:r>
              <a:rPr lang="en-US" dirty="0" err="1"/>
              <a:t>Geringere</a:t>
            </a:r>
            <a:r>
              <a:rPr lang="en-US" dirty="0"/>
              <a:t> </a:t>
            </a:r>
            <a:r>
              <a:rPr lang="en-US" dirty="0" err="1"/>
              <a:t>Infektionsgefahr</a:t>
            </a:r>
            <a:r>
              <a:rPr lang="en-US" dirty="0"/>
              <a:t>, </a:t>
            </a:r>
            <a:r>
              <a:rPr lang="en-US" dirty="0" err="1"/>
              <a:t>weniger</a:t>
            </a:r>
            <a:r>
              <a:rPr lang="en-US" dirty="0"/>
              <a:t> </a:t>
            </a:r>
            <a:r>
              <a:rPr lang="en-US" dirty="0" err="1"/>
              <a:t>Blutung</a:t>
            </a:r>
            <a:r>
              <a:rPr lang="en-US" dirty="0"/>
              <a:t> und </a:t>
            </a:r>
            <a:r>
              <a:rPr lang="en-US" dirty="0" err="1"/>
              <a:t>schnellere</a:t>
            </a:r>
            <a:r>
              <a:rPr lang="en-US" dirty="0"/>
              <a:t> und </a:t>
            </a:r>
            <a:r>
              <a:rPr lang="en-US" dirty="0" err="1"/>
              <a:t>bessere</a:t>
            </a:r>
            <a:r>
              <a:rPr lang="en-US" dirty="0"/>
              <a:t> </a:t>
            </a:r>
            <a:r>
              <a:rPr lang="en-US" dirty="0" err="1"/>
              <a:t>Genesung</a:t>
            </a:r>
            <a:endParaRPr lang="en-US" dirty="0"/>
          </a:p>
          <a:p>
            <a:r>
              <a:rPr lang="en-US" dirty="0" err="1"/>
              <a:t>Nachteil</a:t>
            </a:r>
            <a:r>
              <a:rPr lang="en-US" dirty="0"/>
              <a:t>: </a:t>
            </a:r>
            <a:r>
              <a:rPr lang="en-US" dirty="0" err="1"/>
              <a:t>Nicht</a:t>
            </a:r>
            <a:r>
              <a:rPr lang="en-US" dirty="0"/>
              <a:t> alle </a:t>
            </a:r>
            <a:r>
              <a:rPr lang="en-US" dirty="0" err="1"/>
              <a:t>Operationen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dafür</a:t>
            </a:r>
            <a:r>
              <a:rPr lang="en-US" dirty="0"/>
              <a:t> </a:t>
            </a:r>
            <a:r>
              <a:rPr lang="en-US" dirty="0" err="1"/>
              <a:t>geeignet</a:t>
            </a:r>
            <a:r>
              <a:rPr lang="en-US" dirty="0"/>
              <a:t>; </a:t>
            </a:r>
            <a:r>
              <a:rPr lang="en-US" dirty="0" err="1"/>
              <a:t>besonders</a:t>
            </a:r>
            <a:r>
              <a:rPr lang="en-US" dirty="0"/>
              <a:t> die </a:t>
            </a:r>
            <a:r>
              <a:rPr lang="en-US" dirty="0" err="1"/>
              <a:t>Komplexen</a:t>
            </a:r>
            <a:endParaRPr lang="en-US" dirty="0"/>
          </a:p>
          <a:p>
            <a:r>
              <a:rPr lang="en-US" dirty="0" err="1"/>
              <a:t>Spezielle</a:t>
            </a:r>
            <a:r>
              <a:rPr lang="en-US" dirty="0"/>
              <a:t> </a:t>
            </a:r>
            <a:r>
              <a:rPr lang="en-US" dirty="0" err="1"/>
              <a:t>medizinische</a:t>
            </a:r>
            <a:r>
              <a:rPr lang="en-US" dirty="0"/>
              <a:t> </a:t>
            </a:r>
            <a:r>
              <a:rPr lang="en-US" dirty="0" err="1"/>
              <a:t>Geräte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Lichtwellenleiter</a:t>
            </a:r>
            <a:r>
              <a:rPr lang="en-US" dirty="0"/>
              <a:t> und mini </a:t>
            </a:r>
            <a:r>
              <a:rPr lang="en-US" dirty="0" err="1"/>
              <a:t>Kameras</a:t>
            </a:r>
            <a:r>
              <a:rPr lang="en-US" dirty="0"/>
              <a:t> </a:t>
            </a:r>
            <a:r>
              <a:rPr lang="en-US" dirty="0" err="1"/>
              <a:t>kommen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Einsatz</a:t>
            </a:r>
            <a:endParaRPr lang="en-US" dirty="0"/>
          </a:p>
          <a:p>
            <a:r>
              <a:rPr lang="en-US" dirty="0" err="1"/>
              <a:t>Koloskopie</a:t>
            </a:r>
            <a:r>
              <a:rPr lang="en-US" dirty="0"/>
              <a:t> und </a:t>
            </a:r>
            <a:r>
              <a:rPr lang="de-DE" dirty="0"/>
              <a:t>Laparoskopie gehören zu dieser Methode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86CB6-FBC9-F94C-9288-BB1B09FED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Offene</a:t>
            </a:r>
            <a:r>
              <a:rPr lang="en-US" dirty="0"/>
              <a:t> </a:t>
            </a:r>
            <a:r>
              <a:rPr lang="en-US" dirty="0" err="1"/>
              <a:t>Chirurgie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AB2CE2-C02C-E647-8B67-E64C0BF86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7415" y="2868368"/>
            <a:ext cx="5194583" cy="3109913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Variante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Operation (</a:t>
            </a:r>
            <a:r>
              <a:rPr lang="en-US" dirty="0" err="1"/>
              <a:t>Historisch</a:t>
            </a:r>
            <a:r>
              <a:rPr lang="en-US" dirty="0"/>
              <a:t> </a:t>
            </a:r>
            <a:r>
              <a:rPr lang="en-US" dirty="0" err="1"/>
              <a:t>traditionell</a:t>
            </a:r>
            <a:r>
              <a:rPr lang="en-US" dirty="0"/>
              <a:t>)</a:t>
            </a:r>
          </a:p>
          <a:p>
            <a:r>
              <a:rPr lang="en-US" dirty="0"/>
              <a:t>Heute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großen</a:t>
            </a:r>
            <a:r>
              <a:rPr lang="en-US" dirty="0"/>
              <a:t> und </a:t>
            </a:r>
            <a:r>
              <a:rPr lang="en-US" dirty="0" err="1"/>
              <a:t>komplexen</a:t>
            </a:r>
            <a:r>
              <a:rPr lang="en-US" dirty="0"/>
              <a:t> </a:t>
            </a:r>
            <a:r>
              <a:rPr lang="en-US" dirty="0" err="1"/>
              <a:t>Eingriffen</a:t>
            </a:r>
            <a:endParaRPr lang="en-US" dirty="0"/>
          </a:p>
          <a:p>
            <a:r>
              <a:rPr lang="en-US" dirty="0" err="1"/>
              <a:t>Vorteil</a:t>
            </a:r>
            <a:r>
              <a:rPr lang="en-US" dirty="0"/>
              <a:t>: </a:t>
            </a:r>
            <a:r>
              <a:rPr lang="en-US" dirty="0" err="1"/>
              <a:t>Überblick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größere</a:t>
            </a:r>
            <a:r>
              <a:rPr lang="en-US" dirty="0"/>
              <a:t> </a:t>
            </a:r>
            <a:r>
              <a:rPr lang="en-US" dirty="0" err="1"/>
              <a:t>Fläche</a:t>
            </a:r>
            <a:r>
              <a:rPr lang="en-US" dirty="0"/>
              <a:t> und </a:t>
            </a:r>
            <a:r>
              <a:rPr lang="en-US" dirty="0" err="1"/>
              <a:t>mehr</a:t>
            </a:r>
            <a:r>
              <a:rPr lang="en-US" dirty="0"/>
              <a:t> “</a:t>
            </a:r>
            <a:r>
              <a:rPr lang="en-US" dirty="0" err="1"/>
              <a:t>Spielraum</a:t>
            </a:r>
            <a:r>
              <a:rPr lang="en-US" dirty="0"/>
              <a:t>”</a:t>
            </a:r>
          </a:p>
          <a:p>
            <a:r>
              <a:rPr lang="en-US" dirty="0" err="1"/>
              <a:t>Komplikationen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besser</a:t>
            </a:r>
            <a:r>
              <a:rPr lang="en-US" dirty="0"/>
              <a:t> in den Griff </a:t>
            </a:r>
            <a:r>
              <a:rPr lang="en-US" dirty="0" err="1"/>
              <a:t>bekommen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r>
              <a:rPr lang="en-US" dirty="0" err="1"/>
              <a:t>Nachteile</a:t>
            </a:r>
            <a:r>
              <a:rPr lang="en-US" dirty="0"/>
              <a:t>: </a:t>
            </a:r>
            <a:r>
              <a:rPr lang="en-US" dirty="0" err="1"/>
              <a:t>Kosmetische</a:t>
            </a:r>
            <a:r>
              <a:rPr lang="en-US" dirty="0"/>
              <a:t> </a:t>
            </a:r>
            <a:r>
              <a:rPr lang="en-US" dirty="0" err="1"/>
              <a:t>Auffäligkeiten</a:t>
            </a:r>
            <a:r>
              <a:rPr lang="en-US" dirty="0"/>
              <a:t>, </a:t>
            </a:r>
            <a:r>
              <a:rPr lang="en-US" dirty="0" err="1"/>
              <a:t>schmerzlicher</a:t>
            </a:r>
            <a:r>
              <a:rPr lang="en-US" dirty="0"/>
              <a:t> und </a:t>
            </a:r>
            <a:r>
              <a:rPr lang="en-US" dirty="0" err="1"/>
              <a:t>Genesung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länger</a:t>
            </a:r>
            <a:r>
              <a:rPr lang="en-US" dirty="0"/>
              <a:t> </a:t>
            </a:r>
            <a:r>
              <a:rPr lang="en-US" dirty="0" err="1"/>
              <a:t>dauern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0E71B1-07AC-9E4D-A265-9C17BD9BF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99A525-0290-E84A-84BF-F3C671F2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Fachgebiete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Es </a:t>
            </a:r>
            <a:r>
              <a:rPr lang="en-US" sz="1600" dirty="0" err="1"/>
              <a:t>gibt</a:t>
            </a:r>
            <a:r>
              <a:rPr lang="en-US" sz="1600" dirty="0"/>
              <a:t> </a:t>
            </a:r>
            <a:r>
              <a:rPr lang="en-US" sz="1600" dirty="0" err="1"/>
              <a:t>einige</a:t>
            </a:r>
            <a:r>
              <a:rPr lang="en-US" sz="1600" dirty="0"/>
              <a:t> (Teil-) </a:t>
            </a:r>
            <a:r>
              <a:rPr lang="en-US" sz="1600" dirty="0" err="1"/>
              <a:t>Gebiete</a:t>
            </a:r>
            <a:r>
              <a:rPr lang="en-US" sz="1600" dirty="0"/>
              <a:t>, in </a:t>
            </a:r>
            <a:r>
              <a:rPr lang="en-US" sz="1600" dirty="0" err="1"/>
              <a:t>denen</a:t>
            </a:r>
            <a:r>
              <a:rPr lang="en-US" sz="1600" dirty="0"/>
              <a:t> </a:t>
            </a:r>
            <a:r>
              <a:rPr lang="en-US" sz="1600" dirty="0" err="1"/>
              <a:t>operiert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r>
              <a:rPr lang="en-US" sz="1600" dirty="0"/>
              <a:t>:</a:t>
            </a:r>
          </a:p>
          <a:p>
            <a:pPr lvl="1"/>
            <a:r>
              <a:rPr lang="en-US" sz="1400" dirty="0" err="1"/>
              <a:t>Herzchirurgie</a:t>
            </a:r>
            <a:endParaRPr lang="en-US" sz="1400" dirty="0"/>
          </a:p>
          <a:p>
            <a:pPr lvl="1"/>
            <a:r>
              <a:rPr lang="en-US" sz="1400" dirty="0" err="1"/>
              <a:t>Gefäßchirurgie</a:t>
            </a:r>
            <a:endParaRPr lang="en-US" sz="1400" dirty="0"/>
          </a:p>
          <a:p>
            <a:pPr lvl="1"/>
            <a:r>
              <a:rPr lang="en-US" sz="1400" dirty="0" err="1"/>
              <a:t>Hernienchirurgie</a:t>
            </a:r>
            <a:endParaRPr lang="en-US" sz="1400" dirty="0"/>
          </a:p>
          <a:p>
            <a:pPr lvl="1"/>
            <a:r>
              <a:rPr lang="en-US" sz="1400" dirty="0" err="1"/>
              <a:t>Kinderchirurgie</a:t>
            </a:r>
            <a:endParaRPr lang="en-US" sz="1400" dirty="0"/>
          </a:p>
          <a:p>
            <a:pPr lvl="1"/>
            <a:r>
              <a:rPr lang="en-US" sz="1400" dirty="0" err="1"/>
              <a:t>Kinderherzchirurgie</a:t>
            </a:r>
            <a:endParaRPr lang="en-US" sz="1400" dirty="0"/>
          </a:p>
          <a:p>
            <a:pPr lvl="1"/>
            <a:r>
              <a:rPr lang="en-US" sz="1400" dirty="0" err="1"/>
              <a:t>Orthopädie</a:t>
            </a:r>
            <a:r>
              <a:rPr lang="en-US" sz="1400" dirty="0"/>
              <a:t> und </a:t>
            </a:r>
            <a:r>
              <a:rPr lang="en-US" sz="1400" dirty="0" err="1"/>
              <a:t>Unfallchirurgie</a:t>
            </a:r>
            <a:endParaRPr lang="en-US" sz="1400" dirty="0"/>
          </a:p>
          <a:p>
            <a:pPr lvl="1"/>
            <a:r>
              <a:rPr lang="en-US" sz="1400" dirty="0" err="1"/>
              <a:t>Plastische</a:t>
            </a:r>
            <a:r>
              <a:rPr lang="en-US" sz="1400" dirty="0"/>
              <a:t> und </a:t>
            </a:r>
            <a:r>
              <a:rPr lang="en-US" sz="1400" dirty="0" err="1"/>
              <a:t>ästhethische</a:t>
            </a:r>
            <a:r>
              <a:rPr lang="en-US" sz="1400" dirty="0"/>
              <a:t> </a:t>
            </a:r>
            <a:r>
              <a:rPr lang="en-US" sz="1400" dirty="0" err="1"/>
              <a:t>Chirurgie</a:t>
            </a:r>
            <a:endParaRPr lang="en-US" sz="1400" dirty="0"/>
          </a:p>
          <a:p>
            <a:pPr lvl="1"/>
            <a:r>
              <a:rPr lang="en-US" sz="1400" dirty="0" err="1"/>
              <a:t>Thoraxchirurgie</a:t>
            </a:r>
            <a:endParaRPr lang="en-US" sz="1400" dirty="0"/>
          </a:p>
          <a:p>
            <a:pPr lvl="1"/>
            <a:r>
              <a:rPr lang="en-US" sz="1400" dirty="0" err="1"/>
              <a:t>Viszeralchirurgie</a:t>
            </a:r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36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Fachgebiete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Herzchirurgie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Herzerkrankungen</a:t>
            </a:r>
            <a:r>
              <a:rPr lang="en-US" sz="1600" dirty="0"/>
              <a:t> </a:t>
            </a:r>
            <a:r>
              <a:rPr lang="en-US" sz="1600" dirty="0" err="1"/>
              <a:t>werden</a:t>
            </a:r>
            <a:r>
              <a:rPr lang="en-US" sz="1600" dirty="0"/>
              <a:t> </a:t>
            </a:r>
            <a:r>
              <a:rPr lang="en-US" sz="1600" dirty="0" err="1"/>
              <a:t>vom</a:t>
            </a:r>
            <a:r>
              <a:rPr lang="en-US" sz="1600" dirty="0"/>
              <a:t> </a:t>
            </a:r>
            <a:r>
              <a:rPr lang="en-US" sz="1600" dirty="0" err="1"/>
              <a:t>Kardiologen</a:t>
            </a:r>
            <a:r>
              <a:rPr lang="en-US" sz="1600" dirty="0"/>
              <a:t> </a:t>
            </a:r>
            <a:r>
              <a:rPr lang="en-US" sz="1600" dirty="0" err="1"/>
              <a:t>behandelt</a:t>
            </a:r>
            <a:endParaRPr lang="en-US" sz="1600" dirty="0"/>
          </a:p>
          <a:p>
            <a:r>
              <a:rPr lang="en-US" sz="1600" dirty="0"/>
              <a:t>Die </a:t>
            </a:r>
            <a:r>
              <a:rPr lang="en-US" sz="1600" dirty="0" err="1"/>
              <a:t>verschiedenen</a:t>
            </a:r>
            <a:r>
              <a:rPr lang="en-US" sz="1600" dirty="0"/>
              <a:t> </a:t>
            </a:r>
            <a:r>
              <a:rPr lang="en-US" sz="1600" dirty="0" err="1"/>
              <a:t>Methoden</a:t>
            </a:r>
            <a:r>
              <a:rPr lang="en-US" sz="1600" dirty="0"/>
              <a:t> </a:t>
            </a:r>
            <a:r>
              <a:rPr lang="en-US" sz="1600" dirty="0" err="1"/>
              <a:t>zur</a:t>
            </a:r>
            <a:r>
              <a:rPr lang="en-US" sz="1600" dirty="0"/>
              <a:t> </a:t>
            </a:r>
            <a:r>
              <a:rPr lang="en-US" sz="1600" dirty="0" err="1"/>
              <a:t>Behandlung</a:t>
            </a:r>
            <a:r>
              <a:rPr lang="en-US" sz="1600" dirty="0"/>
              <a:t> der </a:t>
            </a:r>
            <a:r>
              <a:rPr lang="en-US" sz="1600" dirty="0" err="1"/>
              <a:t>Herzerkrankungen</a:t>
            </a:r>
            <a:r>
              <a:rPr lang="en-US" sz="1600" dirty="0"/>
              <a:t> </a:t>
            </a:r>
            <a:r>
              <a:rPr lang="en-US" sz="1600" dirty="0" err="1"/>
              <a:t>aufgelistet</a:t>
            </a:r>
            <a:r>
              <a:rPr lang="en-US" sz="1600" dirty="0"/>
              <a:t>:</a:t>
            </a:r>
            <a:endParaRPr lang="en-US" sz="1400" dirty="0"/>
          </a:p>
          <a:p>
            <a:pPr lvl="1"/>
            <a:r>
              <a:rPr lang="en-US" sz="1400" dirty="0"/>
              <a:t>“</a:t>
            </a:r>
            <a:r>
              <a:rPr lang="en-US" sz="1400" dirty="0" err="1"/>
              <a:t>Bypassoperationen</a:t>
            </a:r>
            <a:r>
              <a:rPr lang="en-US" sz="1400" dirty="0"/>
              <a:t>”</a:t>
            </a:r>
          </a:p>
          <a:p>
            <a:pPr lvl="1"/>
            <a:r>
              <a:rPr lang="en-US" sz="1400" dirty="0"/>
              <a:t>“</a:t>
            </a:r>
            <a:r>
              <a:rPr lang="en-US" sz="1400" dirty="0" err="1"/>
              <a:t>Herzklappen</a:t>
            </a:r>
            <a:r>
              <a:rPr lang="en-US" sz="1400" dirty="0"/>
              <a:t>-OP”</a:t>
            </a:r>
          </a:p>
          <a:p>
            <a:pPr lvl="1"/>
            <a:r>
              <a:rPr lang="en-US" sz="1400" dirty="0"/>
              <a:t>“</a:t>
            </a:r>
            <a:r>
              <a:rPr lang="en-US" sz="1400" dirty="0" err="1"/>
              <a:t>Rhythmuschirurgie</a:t>
            </a:r>
            <a:r>
              <a:rPr lang="en-US" sz="1400" dirty="0"/>
              <a:t>”</a:t>
            </a:r>
          </a:p>
          <a:p>
            <a:pPr lvl="1"/>
            <a:r>
              <a:rPr lang="en-US" sz="1400" dirty="0" err="1"/>
              <a:t>Angeborene</a:t>
            </a:r>
            <a:r>
              <a:rPr lang="en-US" sz="1400" dirty="0"/>
              <a:t> </a:t>
            </a:r>
            <a:r>
              <a:rPr lang="en-US" sz="1400" dirty="0" err="1"/>
              <a:t>Herzfehlerkorrektur</a:t>
            </a:r>
            <a:endParaRPr lang="en-US" sz="1400" dirty="0"/>
          </a:p>
          <a:p>
            <a:pPr lvl="1"/>
            <a:r>
              <a:rPr lang="en-US" sz="1400" dirty="0" err="1"/>
              <a:t>Transplationen</a:t>
            </a:r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962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Fachgebiete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Gefäßchirurgie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Die </a:t>
            </a:r>
            <a:r>
              <a:rPr lang="en-US" sz="1600" dirty="0" err="1"/>
              <a:t>Gefäße</a:t>
            </a:r>
            <a:r>
              <a:rPr lang="en-US" sz="1600" dirty="0"/>
              <a:t> und </a:t>
            </a:r>
            <a:r>
              <a:rPr lang="en-US" sz="1600" dirty="0" err="1"/>
              <a:t>Blutbahnen</a:t>
            </a:r>
            <a:r>
              <a:rPr lang="en-US" sz="1600" dirty="0"/>
              <a:t> warden </a:t>
            </a:r>
            <a:r>
              <a:rPr lang="en-US" sz="1600" dirty="0" err="1"/>
              <a:t>untersucht</a:t>
            </a:r>
            <a:r>
              <a:rPr lang="en-US" sz="1600" dirty="0"/>
              <a:t> und </a:t>
            </a:r>
            <a:r>
              <a:rPr lang="en-US" sz="1600" dirty="0" err="1"/>
              <a:t>behandelt</a:t>
            </a:r>
            <a:endParaRPr lang="en-US" sz="1600" dirty="0"/>
          </a:p>
          <a:p>
            <a:r>
              <a:rPr lang="en-US" sz="1600" dirty="0" err="1"/>
              <a:t>Häufigsten</a:t>
            </a:r>
            <a:r>
              <a:rPr lang="en-US" sz="1600" dirty="0"/>
              <a:t> </a:t>
            </a:r>
            <a:r>
              <a:rPr lang="en-US" sz="1600" dirty="0" err="1"/>
              <a:t>Probleme</a:t>
            </a:r>
            <a:r>
              <a:rPr lang="en-US" sz="1600" dirty="0"/>
              <a:t>: </a:t>
            </a:r>
            <a:r>
              <a:rPr lang="en-US" sz="1600" dirty="0" err="1"/>
              <a:t>Varizen</a:t>
            </a:r>
            <a:r>
              <a:rPr lang="en-US" sz="1600" dirty="0"/>
              <a:t> &amp; </a:t>
            </a:r>
            <a:r>
              <a:rPr lang="en-US" sz="1600" dirty="0" err="1"/>
              <a:t>Stenosen</a:t>
            </a:r>
            <a:endParaRPr lang="en-US" sz="1600" dirty="0"/>
          </a:p>
          <a:p>
            <a:r>
              <a:rPr lang="en-US" sz="1600" dirty="0" err="1"/>
              <a:t>Endovaskuläre</a:t>
            </a:r>
            <a:r>
              <a:rPr lang="en-US" sz="1600" dirty="0"/>
              <a:t> und </a:t>
            </a:r>
            <a:r>
              <a:rPr lang="en-US" sz="1600" dirty="0" err="1"/>
              <a:t>offene</a:t>
            </a:r>
            <a:r>
              <a:rPr lang="en-US" sz="1600" dirty="0"/>
              <a:t> </a:t>
            </a:r>
            <a:r>
              <a:rPr lang="en-US" sz="1600" dirty="0" err="1"/>
              <a:t>Methoden</a:t>
            </a:r>
            <a:r>
              <a:rPr lang="en-US" sz="1600" dirty="0"/>
              <a:t> </a:t>
            </a:r>
            <a:r>
              <a:rPr lang="en-US" sz="1600" dirty="0" err="1"/>
              <a:t>beim</a:t>
            </a:r>
            <a:r>
              <a:rPr lang="en-US" sz="1600" dirty="0"/>
              <a:t> </a:t>
            </a:r>
            <a:r>
              <a:rPr lang="en-US" sz="1600" dirty="0" err="1"/>
              <a:t>Eingriff</a:t>
            </a:r>
            <a:endParaRPr lang="en-US" sz="1600" dirty="0"/>
          </a:p>
          <a:p>
            <a:r>
              <a:rPr lang="en-US" sz="1600" dirty="0" err="1"/>
              <a:t>Letzter</a:t>
            </a:r>
            <a:r>
              <a:rPr lang="en-US" sz="1600" dirty="0"/>
              <a:t> </a:t>
            </a:r>
            <a:r>
              <a:rPr lang="en-US" sz="1600" dirty="0" err="1"/>
              <a:t>Weg</a:t>
            </a:r>
            <a:r>
              <a:rPr lang="en-US" sz="1600" dirty="0"/>
              <a:t>: Bypass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44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Fachgebiete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Hernienchirurgie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Untergebiet</a:t>
            </a:r>
            <a:r>
              <a:rPr lang="en-US" sz="1600" dirty="0"/>
              <a:t> der ”</a:t>
            </a:r>
            <a:r>
              <a:rPr lang="en-US" sz="1600" dirty="0" err="1"/>
              <a:t>Viszeralchirurgie</a:t>
            </a:r>
            <a:r>
              <a:rPr lang="en-US" sz="1600" dirty="0"/>
              <a:t>”</a:t>
            </a:r>
          </a:p>
          <a:p>
            <a:r>
              <a:rPr lang="en-US" sz="1600" dirty="0" err="1"/>
              <a:t>Gewinnt</a:t>
            </a:r>
            <a:r>
              <a:rPr lang="en-US" sz="1600" dirty="0"/>
              <a:t> an </a:t>
            </a:r>
            <a:r>
              <a:rPr lang="en-US" sz="1600" dirty="0" err="1"/>
              <a:t>Bedetung</a:t>
            </a:r>
            <a:r>
              <a:rPr lang="en-US" sz="1600" dirty="0"/>
              <a:t> </a:t>
            </a:r>
            <a:r>
              <a:rPr lang="en-US" sz="1600" dirty="0" err="1"/>
              <a:t>durch</a:t>
            </a:r>
            <a:r>
              <a:rPr lang="en-US" sz="1600" dirty="0"/>
              <a:t> die </a:t>
            </a:r>
            <a:r>
              <a:rPr lang="en-US" sz="1600" dirty="0" err="1"/>
              <a:t>vielen</a:t>
            </a:r>
            <a:r>
              <a:rPr lang="en-US" sz="1600" dirty="0"/>
              <a:t> </a:t>
            </a:r>
            <a:r>
              <a:rPr lang="en-US" sz="1600" dirty="0" err="1"/>
              <a:t>Leistenbrüche</a:t>
            </a:r>
            <a:r>
              <a:rPr lang="en-US" sz="1600" dirty="0"/>
              <a:t> (“</a:t>
            </a:r>
            <a:r>
              <a:rPr lang="en-US" sz="1600" dirty="0" err="1"/>
              <a:t>Hernie</a:t>
            </a:r>
            <a:r>
              <a:rPr lang="en-US" sz="1600" dirty="0"/>
              <a:t>”) </a:t>
            </a:r>
            <a:r>
              <a:rPr lang="en-US" sz="1600" dirty="0" err="1"/>
              <a:t>weltweit</a:t>
            </a:r>
            <a:endParaRPr lang="en-US" sz="1600" dirty="0"/>
          </a:p>
          <a:p>
            <a:r>
              <a:rPr lang="en-US" sz="1600" dirty="0" err="1"/>
              <a:t>Schenkelhernie</a:t>
            </a:r>
            <a:endParaRPr lang="en-US" sz="1600" dirty="0"/>
          </a:p>
          <a:p>
            <a:r>
              <a:rPr lang="en-US" sz="1600" dirty="0" err="1"/>
              <a:t>Nabelhernie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55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Fachgebiete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Kinderchirurgie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Babys</a:t>
            </a:r>
            <a:r>
              <a:rPr lang="en-US" sz="1600" dirty="0"/>
              <a:t> &amp; Kinder bis </a:t>
            </a:r>
            <a:r>
              <a:rPr lang="en-US" sz="1600" dirty="0" err="1"/>
              <a:t>zu</a:t>
            </a:r>
            <a:r>
              <a:rPr lang="en-US" sz="1600" dirty="0"/>
              <a:t> 6 Jahren </a:t>
            </a:r>
            <a:r>
              <a:rPr lang="en-US" sz="1600" dirty="0" err="1"/>
              <a:t>werden</a:t>
            </a:r>
            <a:r>
              <a:rPr lang="en-US" sz="1600" dirty="0"/>
              <a:t> </a:t>
            </a:r>
            <a:r>
              <a:rPr lang="en-US" sz="1600" dirty="0" err="1"/>
              <a:t>behandelt</a:t>
            </a:r>
            <a:endParaRPr lang="en-US" sz="1600" dirty="0"/>
          </a:p>
          <a:p>
            <a:r>
              <a:rPr lang="en-US" sz="1600" dirty="0"/>
              <a:t>Alle </a:t>
            </a:r>
            <a:r>
              <a:rPr lang="en-US" sz="1600" dirty="0" err="1"/>
              <a:t>Teilgebeite</a:t>
            </a:r>
            <a:r>
              <a:rPr lang="en-US" sz="1600" dirty="0"/>
              <a:t> </a:t>
            </a:r>
            <a:r>
              <a:rPr lang="en-US" sz="1600" dirty="0" err="1"/>
              <a:t>werden</a:t>
            </a:r>
            <a:r>
              <a:rPr lang="en-US" sz="1600" dirty="0"/>
              <a:t> </a:t>
            </a:r>
            <a:r>
              <a:rPr lang="en-US" sz="1600" dirty="0" err="1"/>
              <a:t>gedeckt</a:t>
            </a:r>
            <a:endParaRPr lang="en-US" sz="1600" dirty="0"/>
          </a:p>
          <a:p>
            <a:r>
              <a:rPr lang="en-US" sz="1600" dirty="0"/>
              <a:t>Von </a:t>
            </a:r>
            <a:r>
              <a:rPr lang="en-US" sz="1600" dirty="0" err="1"/>
              <a:t>Tumoren</a:t>
            </a:r>
            <a:r>
              <a:rPr lang="en-US" sz="1600" dirty="0"/>
              <a:t> bis </a:t>
            </a:r>
            <a:r>
              <a:rPr lang="en-US" sz="1600" dirty="0" err="1"/>
              <a:t>Fehlbildungen</a:t>
            </a:r>
            <a:endParaRPr lang="en-US" sz="1600" dirty="0"/>
          </a:p>
          <a:p>
            <a:r>
              <a:rPr lang="en-US" sz="1600" dirty="0" err="1"/>
              <a:t>Sechsjährige</a:t>
            </a:r>
            <a:r>
              <a:rPr lang="en-US" sz="1600" dirty="0"/>
              <a:t> </a:t>
            </a:r>
            <a:r>
              <a:rPr lang="en-US" sz="1600" dirty="0" err="1"/>
              <a:t>Weiterbildung</a:t>
            </a:r>
            <a:r>
              <a:rPr lang="en-US" sz="1600" dirty="0"/>
              <a:t> </a:t>
            </a:r>
            <a:r>
              <a:rPr lang="en-US" sz="1600" dirty="0" err="1"/>
              <a:t>erforderlich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384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Fachgebiete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Kinderherzchirurgie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Junges</a:t>
            </a:r>
            <a:r>
              <a:rPr lang="en-US" sz="1600" dirty="0"/>
              <a:t> </a:t>
            </a:r>
            <a:r>
              <a:rPr lang="en-US" sz="1600" dirty="0" err="1"/>
              <a:t>Teilgebiet</a:t>
            </a:r>
            <a:endParaRPr lang="en-US" sz="1600" dirty="0"/>
          </a:p>
          <a:p>
            <a:r>
              <a:rPr lang="en-US" sz="1600" dirty="0" err="1"/>
              <a:t>Befasst</a:t>
            </a:r>
            <a:r>
              <a:rPr lang="en-US" sz="1600" dirty="0"/>
              <a:t> </a:t>
            </a:r>
            <a:r>
              <a:rPr lang="en-US" sz="1600" dirty="0" err="1"/>
              <a:t>sich</a:t>
            </a:r>
            <a:r>
              <a:rPr lang="en-US" sz="1600" dirty="0"/>
              <a:t> </a:t>
            </a:r>
            <a:r>
              <a:rPr lang="en-US" sz="1600" dirty="0" err="1"/>
              <a:t>mit</a:t>
            </a:r>
            <a:r>
              <a:rPr lang="en-US" sz="1600" dirty="0"/>
              <a:t> </a:t>
            </a:r>
            <a:r>
              <a:rPr lang="en-US" sz="1600" dirty="0" err="1"/>
              <a:t>angeborenen</a:t>
            </a:r>
            <a:r>
              <a:rPr lang="en-US" sz="1600" dirty="0"/>
              <a:t> </a:t>
            </a:r>
            <a:r>
              <a:rPr lang="en-US" sz="1600" dirty="0" err="1"/>
              <a:t>Herzfehlern</a:t>
            </a:r>
            <a:endParaRPr lang="en-US" sz="1600" dirty="0"/>
          </a:p>
          <a:p>
            <a:r>
              <a:rPr lang="en-US" sz="1600" dirty="0"/>
              <a:t>Synonym: “</a:t>
            </a:r>
            <a:r>
              <a:rPr lang="en-US" sz="1600" dirty="0" err="1"/>
              <a:t>Kinderkardiochirurgie</a:t>
            </a:r>
            <a:r>
              <a:rPr lang="en-US" sz="1600" dirty="0"/>
              <a:t>”</a:t>
            </a:r>
          </a:p>
          <a:p>
            <a:r>
              <a:rPr lang="en-US" sz="1600" dirty="0"/>
              <a:t>“</a:t>
            </a:r>
            <a:r>
              <a:rPr lang="en-US" sz="1600" dirty="0" err="1"/>
              <a:t>Herz-Lungen-Maschine</a:t>
            </a:r>
            <a:r>
              <a:rPr lang="en-US" sz="1600" dirty="0"/>
              <a:t>” hat das </a:t>
            </a:r>
            <a:r>
              <a:rPr lang="en-US" sz="1600" dirty="0" err="1"/>
              <a:t>Gebiet</a:t>
            </a:r>
            <a:r>
              <a:rPr lang="en-US" sz="1600" dirty="0"/>
              <a:t> </a:t>
            </a:r>
            <a:r>
              <a:rPr lang="en-US" sz="1600" dirty="0" err="1"/>
              <a:t>beeinflusst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7031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Fachgebiete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Orthopädie</a:t>
            </a:r>
            <a:r>
              <a:rPr lang="en-US" sz="1600" dirty="0">
                <a:solidFill>
                  <a:schemeClr val="tx1"/>
                </a:solidFill>
              </a:rPr>
              <a:t> und </a:t>
            </a:r>
            <a:r>
              <a:rPr lang="en-US" sz="1600" dirty="0" err="1">
                <a:solidFill>
                  <a:schemeClr val="tx1"/>
                </a:solidFill>
              </a:rPr>
              <a:t>Unfallchirurgie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Untersuchung</a:t>
            </a:r>
            <a:r>
              <a:rPr lang="en-US" sz="1600" dirty="0"/>
              <a:t> und </a:t>
            </a:r>
            <a:r>
              <a:rPr lang="en-US" sz="1600" dirty="0" err="1"/>
              <a:t>Behandlung</a:t>
            </a:r>
            <a:r>
              <a:rPr lang="en-US" sz="1600" dirty="0"/>
              <a:t> </a:t>
            </a:r>
            <a:r>
              <a:rPr lang="en-US" sz="1600" dirty="0" err="1"/>
              <a:t>allerlei</a:t>
            </a:r>
            <a:r>
              <a:rPr lang="en-US" sz="1600" dirty="0"/>
              <a:t> </a:t>
            </a:r>
            <a:r>
              <a:rPr lang="en-US" sz="1600" dirty="0" err="1"/>
              <a:t>Probleme</a:t>
            </a:r>
            <a:r>
              <a:rPr lang="en-US" sz="1600" dirty="0"/>
              <a:t> des </a:t>
            </a:r>
            <a:r>
              <a:rPr lang="en-US" sz="1600" dirty="0" err="1"/>
              <a:t>Stütz</a:t>
            </a:r>
            <a:r>
              <a:rPr lang="en-US" sz="1600" dirty="0"/>
              <a:t>- und </a:t>
            </a:r>
            <a:r>
              <a:rPr lang="en-US" sz="1600" dirty="0" err="1"/>
              <a:t>Bewegungsapparats</a:t>
            </a:r>
            <a:endParaRPr lang="en-US" sz="1600" dirty="0"/>
          </a:p>
          <a:p>
            <a:r>
              <a:rPr lang="en-US" sz="1600" dirty="0" err="1"/>
              <a:t>Genau</a:t>
            </a:r>
            <a:r>
              <a:rPr lang="en-US" sz="1600" dirty="0"/>
              <a:t> so </a:t>
            </a:r>
            <a:r>
              <a:rPr lang="en-US" sz="1600" dirty="0" err="1"/>
              <a:t>wie</a:t>
            </a:r>
            <a:r>
              <a:rPr lang="en-US" sz="1600" dirty="0"/>
              <a:t> </a:t>
            </a:r>
            <a:r>
              <a:rPr lang="en-US" sz="1600" dirty="0" err="1"/>
              <a:t>Sehnen</a:t>
            </a:r>
            <a:r>
              <a:rPr lang="en-US" sz="1600" dirty="0"/>
              <a:t> und </a:t>
            </a:r>
            <a:r>
              <a:rPr lang="en-US" sz="1600" dirty="0" err="1"/>
              <a:t>Muskeln</a:t>
            </a:r>
            <a:endParaRPr lang="en-US" sz="1600" dirty="0"/>
          </a:p>
          <a:p>
            <a:r>
              <a:rPr lang="en-US" sz="1600" dirty="0" err="1"/>
              <a:t>Meiste</a:t>
            </a:r>
            <a:r>
              <a:rPr lang="en-US" sz="1600" dirty="0"/>
              <a:t> </a:t>
            </a:r>
            <a:r>
              <a:rPr lang="en-US" sz="1600" dirty="0" err="1"/>
              <a:t>Problembehebungen</a:t>
            </a:r>
            <a:r>
              <a:rPr lang="en-US" sz="1600" dirty="0"/>
              <a:t> </a:t>
            </a:r>
            <a:r>
              <a:rPr lang="en-US" sz="1600" dirty="0" err="1"/>
              <a:t>geschehen</a:t>
            </a:r>
            <a:r>
              <a:rPr lang="en-US" sz="1600" dirty="0"/>
              <a:t> </a:t>
            </a:r>
            <a:r>
              <a:rPr lang="en-US" sz="1600" dirty="0" err="1"/>
              <a:t>ohne</a:t>
            </a:r>
            <a:r>
              <a:rPr lang="en-US" sz="1600" dirty="0"/>
              <a:t> </a:t>
            </a:r>
            <a:r>
              <a:rPr lang="en-US" sz="1600" dirty="0" err="1"/>
              <a:t>einen</a:t>
            </a:r>
            <a:r>
              <a:rPr lang="en-US" sz="1600" dirty="0"/>
              <a:t> </a:t>
            </a:r>
            <a:r>
              <a:rPr lang="en-US" sz="1600" dirty="0" err="1"/>
              <a:t>operativen</a:t>
            </a:r>
            <a:r>
              <a:rPr lang="en-US" sz="1600" dirty="0"/>
              <a:t> </a:t>
            </a:r>
            <a:r>
              <a:rPr lang="en-US" sz="1600" dirty="0" err="1"/>
              <a:t>Eingriff</a:t>
            </a:r>
            <a:endParaRPr lang="en-US" sz="1600" dirty="0"/>
          </a:p>
          <a:p>
            <a:r>
              <a:rPr lang="en-US" sz="1600" dirty="0" err="1"/>
              <a:t>Weitere</a:t>
            </a:r>
            <a:r>
              <a:rPr lang="en-US" sz="1600" dirty="0"/>
              <a:t> </a:t>
            </a:r>
            <a:r>
              <a:rPr lang="en-US" sz="1600" dirty="0" err="1"/>
              <a:t>Teildisziplinen</a:t>
            </a:r>
            <a:r>
              <a:rPr lang="en-US" sz="1600" dirty="0"/>
              <a:t> </a:t>
            </a:r>
            <a:r>
              <a:rPr lang="en-US" sz="1600" dirty="0" err="1"/>
              <a:t>innerhalb</a:t>
            </a:r>
            <a:r>
              <a:rPr lang="en-US" sz="1600" dirty="0"/>
              <a:t>:</a:t>
            </a:r>
          </a:p>
          <a:p>
            <a:pPr lvl="1"/>
            <a:r>
              <a:rPr lang="en-US" sz="1400" dirty="0" err="1"/>
              <a:t>Hüftchirurgie</a:t>
            </a:r>
            <a:endParaRPr lang="en-US" sz="1400" dirty="0"/>
          </a:p>
          <a:p>
            <a:pPr lvl="1"/>
            <a:r>
              <a:rPr lang="en-US" sz="1400" dirty="0" err="1"/>
              <a:t>Kniechirurgie</a:t>
            </a:r>
            <a:endParaRPr lang="en-US" sz="1400" dirty="0"/>
          </a:p>
          <a:p>
            <a:pPr lvl="1"/>
            <a:r>
              <a:rPr lang="en-US" sz="1400" dirty="0" err="1"/>
              <a:t>Schulterchirurgie</a:t>
            </a:r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295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Fachgebiete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Plastische</a:t>
            </a:r>
            <a:r>
              <a:rPr lang="en-US" sz="1600" dirty="0">
                <a:solidFill>
                  <a:schemeClr val="tx1"/>
                </a:solidFill>
              </a:rPr>
              <a:t> und </a:t>
            </a:r>
            <a:r>
              <a:rPr lang="en-US" sz="1600" dirty="0" err="1">
                <a:solidFill>
                  <a:schemeClr val="tx1"/>
                </a:solidFill>
              </a:rPr>
              <a:t>ästhethische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Chirurgie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Ursprünglich</a:t>
            </a:r>
            <a:r>
              <a:rPr lang="en-US" sz="1600" dirty="0"/>
              <a:t> </a:t>
            </a:r>
            <a:r>
              <a:rPr lang="en-US" sz="1600" dirty="0" err="1"/>
              <a:t>getrennte</a:t>
            </a:r>
            <a:r>
              <a:rPr lang="en-US" sz="1600" dirty="0"/>
              <a:t> </a:t>
            </a:r>
            <a:r>
              <a:rPr lang="en-US" sz="1600" dirty="0" err="1"/>
              <a:t>Disziplinen</a:t>
            </a:r>
            <a:endParaRPr lang="en-US" sz="1600" dirty="0"/>
          </a:p>
          <a:p>
            <a:r>
              <a:rPr lang="en-US" sz="1600" dirty="0" err="1"/>
              <a:t>Plastische</a:t>
            </a:r>
            <a:r>
              <a:rPr lang="en-US" sz="1600" dirty="0"/>
              <a:t> </a:t>
            </a:r>
            <a:r>
              <a:rPr lang="en-US" sz="1600" dirty="0" err="1"/>
              <a:t>Chirurgie</a:t>
            </a:r>
            <a:r>
              <a:rPr lang="en-US" sz="1600" dirty="0"/>
              <a:t> </a:t>
            </a:r>
            <a:r>
              <a:rPr lang="en-US" sz="1600" dirty="0" err="1"/>
              <a:t>stellt</a:t>
            </a:r>
            <a:r>
              <a:rPr lang="en-US" sz="1600" dirty="0"/>
              <a:t> </a:t>
            </a:r>
            <a:r>
              <a:rPr lang="en-US" sz="1600" dirty="0" err="1"/>
              <a:t>angeborene</a:t>
            </a:r>
            <a:r>
              <a:rPr lang="en-US" sz="1600" dirty="0"/>
              <a:t> </a:t>
            </a:r>
            <a:r>
              <a:rPr lang="en-US" sz="1600" dirty="0" err="1"/>
              <a:t>oder</a:t>
            </a:r>
            <a:r>
              <a:rPr lang="en-US" sz="1600" dirty="0"/>
              <a:t> </a:t>
            </a:r>
            <a:r>
              <a:rPr lang="en-US" sz="1600" dirty="0" err="1"/>
              <a:t>erworbene</a:t>
            </a:r>
            <a:r>
              <a:rPr lang="en-US" sz="1600" dirty="0"/>
              <a:t> </a:t>
            </a:r>
            <a:r>
              <a:rPr lang="en-US" sz="1600" dirty="0" err="1"/>
              <a:t>Fehlbildungen</a:t>
            </a:r>
            <a:r>
              <a:rPr lang="en-US" sz="1600" dirty="0"/>
              <a:t> </a:t>
            </a:r>
            <a:r>
              <a:rPr lang="en-US" sz="1600" dirty="0" err="1"/>
              <a:t>wieder</a:t>
            </a:r>
            <a:r>
              <a:rPr lang="en-US" sz="1600" dirty="0"/>
              <a:t> her (“</a:t>
            </a:r>
            <a:r>
              <a:rPr lang="en-US" sz="1600" dirty="0" err="1"/>
              <a:t>Kosmetische</a:t>
            </a:r>
            <a:r>
              <a:rPr lang="en-US" sz="1600" dirty="0"/>
              <a:t> </a:t>
            </a:r>
            <a:r>
              <a:rPr lang="en-US" sz="1600" dirty="0" err="1"/>
              <a:t>Chirurgie</a:t>
            </a:r>
            <a:r>
              <a:rPr lang="en-US" sz="1600" dirty="0"/>
              <a:t>”)</a:t>
            </a:r>
          </a:p>
          <a:p>
            <a:r>
              <a:rPr lang="en-US" sz="1600" dirty="0" err="1"/>
              <a:t>Ästethische</a:t>
            </a:r>
            <a:r>
              <a:rPr lang="en-US" sz="1600" dirty="0"/>
              <a:t> </a:t>
            </a:r>
            <a:r>
              <a:rPr lang="en-US" sz="1600" dirty="0" err="1"/>
              <a:t>Chirurgie</a:t>
            </a:r>
            <a:r>
              <a:rPr lang="en-US" sz="1600" dirty="0"/>
              <a:t> </a:t>
            </a:r>
            <a:r>
              <a:rPr lang="en-US" sz="1600" dirty="0" err="1"/>
              <a:t>entstand</a:t>
            </a:r>
            <a:r>
              <a:rPr lang="en-US" sz="1600" dirty="0"/>
              <a:t> </a:t>
            </a:r>
            <a:r>
              <a:rPr lang="en-US" sz="1600" dirty="0" err="1"/>
              <a:t>aus</a:t>
            </a:r>
            <a:r>
              <a:rPr lang="en-US" sz="1600" dirty="0"/>
              <a:t> dem Wunsch </a:t>
            </a:r>
            <a:r>
              <a:rPr lang="en-US" sz="1600" dirty="0" err="1"/>
              <a:t>heraus</a:t>
            </a:r>
            <a:r>
              <a:rPr lang="en-US" sz="1600" dirty="0"/>
              <a:t> </a:t>
            </a:r>
            <a:r>
              <a:rPr lang="en-US" sz="1600" dirty="0" err="1"/>
              <a:t>sich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verschönern</a:t>
            </a:r>
            <a:r>
              <a:rPr lang="en-US" sz="1600" dirty="0"/>
              <a:t> (</a:t>
            </a:r>
            <a:r>
              <a:rPr lang="en-US" sz="1600" dirty="0" err="1"/>
              <a:t>Ästhetik</a:t>
            </a:r>
            <a:r>
              <a:rPr lang="en-US" sz="1600" dirty="0"/>
              <a:t>)</a:t>
            </a:r>
          </a:p>
          <a:p>
            <a:r>
              <a:rPr lang="en-US" sz="1600" dirty="0" err="1"/>
              <a:t>Heutzutage</a:t>
            </a:r>
            <a:r>
              <a:rPr lang="en-US" sz="1600" dirty="0"/>
              <a:t> </a:t>
            </a:r>
            <a:r>
              <a:rPr lang="en-US" sz="1600" dirty="0" err="1"/>
              <a:t>interdisziplinär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11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Fachgebiete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Thoraxchirurgie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Allerlei</a:t>
            </a:r>
            <a:r>
              <a:rPr lang="en-US" sz="1600" dirty="0"/>
              <a:t> </a:t>
            </a:r>
            <a:r>
              <a:rPr lang="en-US" sz="1600" dirty="0" err="1"/>
              <a:t>Probleme</a:t>
            </a:r>
            <a:r>
              <a:rPr lang="en-US" sz="1600" dirty="0"/>
              <a:t> den </a:t>
            </a:r>
            <a:r>
              <a:rPr lang="en-US" sz="1600" dirty="0" err="1"/>
              <a:t>Brustraum</a:t>
            </a:r>
            <a:r>
              <a:rPr lang="en-US" sz="1600" dirty="0"/>
              <a:t> </a:t>
            </a:r>
            <a:r>
              <a:rPr lang="en-US" sz="1600" dirty="0" err="1"/>
              <a:t>betreffend</a:t>
            </a:r>
            <a:endParaRPr lang="en-US" sz="1600" dirty="0"/>
          </a:p>
          <a:p>
            <a:r>
              <a:rPr lang="en-US" sz="1600" dirty="0"/>
              <a:t>Pleura</a:t>
            </a:r>
          </a:p>
          <a:p>
            <a:r>
              <a:rPr lang="en-US" sz="1600" dirty="0" err="1"/>
              <a:t>Bronchien</a:t>
            </a:r>
            <a:endParaRPr lang="en-US" sz="1600" dirty="0"/>
          </a:p>
          <a:p>
            <a:r>
              <a:rPr lang="en-US" sz="1600" dirty="0"/>
              <a:t>Lunge und </a:t>
            </a:r>
            <a:r>
              <a:rPr lang="en-US" sz="1600" dirty="0" err="1"/>
              <a:t>Luftröhre</a:t>
            </a:r>
            <a:endParaRPr lang="en-US" sz="1600" dirty="0"/>
          </a:p>
          <a:p>
            <a:r>
              <a:rPr lang="en-US" sz="1600" dirty="0" err="1"/>
              <a:t>Strahlentherapien</a:t>
            </a:r>
            <a:r>
              <a:rPr lang="en-US" sz="1600" dirty="0"/>
              <a:t> und </a:t>
            </a:r>
            <a:r>
              <a:rPr lang="en-US" sz="1600" dirty="0" err="1"/>
              <a:t>Chemotherapien</a:t>
            </a:r>
            <a:r>
              <a:rPr lang="en-US" sz="1600" dirty="0"/>
              <a:t> </a:t>
            </a:r>
            <a:r>
              <a:rPr lang="en-US" sz="1600" dirty="0" err="1"/>
              <a:t>bei</a:t>
            </a:r>
            <a:r>
              <a:rPr lang="en-US" sz="1600" dirty="0"/>
              <a:t> </a:t>
            </a:r>
            <a:r>
              <a:rPr lang="en-US" sz="1600" dirty="0" err="1"/>
              <a:t>Lungenkrebs</a:t>
            </a:r>
            <a:r>
              <a:rPr lang="en-US" sz="1600" dirty="0"/>
              <a:t> </a:t>
            </a:r>
            <a:r>
              <a:rPr lang="en-US" sz="1600" dirty="0" err="1"/>
              <a:t>zum</a:t>
            </a:r>
            <a:r>
              <a:rPr lang="en-US" sz="1600" dirty="0"/>
              <a:t> </a:t>
            </a:r>
            <a:r>
              <a:rPr lang="en-US" sz="1600" dirty="0" err="1"/>
              <a:t>Beispiel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2367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Fachgebiete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Viszeralchirurgie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Auch </a:t>
            </a:r>
            <a:r>
              <a:rPr lang="en-US" sz="1600" dirty="0" err="1"/>
              <a:t>Bauchchirurgie</a:t>
            </a:r>
            <a:r>
              <a:rPr lang="en-US" sz="1600" dirty="0"/>
              <a:t> </a:t>
            </a:r>
            <a:r>
              <a:rPr lang="en-US" sz="1600" dirty="0" err="1"/>
              <a:t>genannt</a:t>
            </a:r>
            <a:endParaRPr lang="en-US" sz="1600" dirty="0"/>
          </a:p>
          <a:p>
            <a:r>
              <a:rPr lang="en-US" sz="1600" dirty="0" err="1"/>
              <a:t>Transplantationen</a:t>
            </a:r>
            <a:endParaRPr lang="en-US" sz="1600" dirty="0"/>
          </a:p>
          <a:p>
            <a:r>
              <a:rPr lang="en-US" sz="1600" dirty="0" err="1"/>
              <a:t>Behandlungsthemen</a:t>
            </a:r>
            <a:r>
              <a:rPr lang="en-US" sz="1600" dirty="0"/>
              <a:t>: </a:t>
            </a:r>
            <a:r>
              <a:rPr lang="en-US" sz="1600" dirty="0" err="1"/>
              <a:t>Adipositas</a:t>
            </a:r>
            <a:r>
              <a:rPr lang="en-US" sz="1600" dirty="0"/>
              <a:t>, </a:t>
            </a:r>
            <a:r>
              <a:rPr lang="en-US" sz="1600" dirty="0" err="1"/>
              <a:t>Schilddrüsen</a:t>
            </a:r>
            <a:r>
              <a:rPr lang="en-US" sz="1600" dirty="0"/>
              <a:t>-OP. </a:t>
            </a:r>
            <a:r>
              <a:rPr lang="en-US" sz="1600" dirty="0" err="1"/>
              <a:t>Pankreas</a:t>
            </a:r>
            <a:r>
              <a:rPr lang="en-US" sz="1600" dirty="0"/>
              <a:t>- und </a:t>
            </a:r>
            <a:r>
              <a:rPr lang="en-US" sz="1600" dirty="0" err="1"/>
              <a:t>Gallenblasenentfernung</a:t>
            </a:r>
            <a:endParaRPr lang="en-US" sz="1600" dirty="0"/>
          </a:p>
          <a:p>
            <a:r>
              <a:rPr lang="en-US" sz="1600" dirty="0" err="1"/>
              <a:t>Innereien</a:t>
            </a:r>
            <a:endParaRPr lang="en-US" sz="1600" dirty="0"/>
          </a:p>
          <a:p>
            <a:pPr lvl="1"/>
            <a:r>
              <a:rPr lang="en-US" sz="1400" dirty="0" err="1"/>
              <a:t>Darm</a:t>
            </a:r>
            <a:endParaRPr lang="en-US" sz="1400" dirty="0"/>
          </a:p>
          <a:p>
            <a:pPr lvl="1"/>
            <a:r>
              <a:rPr lang="en-US" sz="1400" dirty="0" err="1"/>
              <a:t>Leber</a:t>
            </a:r>
            <a:endParaRPr lang="en-US" sz="1400" dirty="0"/>
          </a:p>
          <a:p>
            <a:pPr lvl="1"/>
            <a:r>
              <a:rPr lang="en-US" sz="1400" dirty="0" err="1"/>
              <a:t>Spieseröhre</a:t>
            </a:r>
            <a:endParaRPr lang="en-US" sz="1400" dirty="0"/>
          </a:p>
          <a:p>
            <a:pPr lvl="1"/>
            <a:r>
              <a:rPr lang="en-US" sz="1400" dirty="0"/>
              <a:t>Magen und Galle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3556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Eingesetzte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Equipments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 err="1"/>
              <a:t>Medizintechnik</a:t>
            </a:r>
            <a:r>
              <a:rPr lang="en-US" sz="1600" dirty="0"/>
              <a:t> </a:t>
            </a:r>
            <a:r>
              <a:rPr lang="en-US" sz="1600" dirty="0" err="1"/>
              <a:t>ist</a:t>
            </a:r>
            <a:r>
              <a:rPr lang="en-US" sz="1600" dirty="0"/>
              <a:t> </a:t>
            </a:r>
            <a:r>
              <a:rPr lang="en-US" sz="1600" dirty="0" err="1"/>
              <a:t>auch</a:t>
            </a:r>
            <a:r>
              <a:rPr lang="en-US" sz="1600" dirty="0"/>
              <a:t> </a:t>
            </a:r>
            <a:r>
              <a:rPr lang="en-US" sz="1600" dirty="0" err="1"/>
              <a:t>für</a:t>
            </a:r>
            <a:r>
              <a:rPr lang="en-US" sz="1600" dirty="0"/>
              <a:t> die </a:t>
            </a:r>
            <a:r>
              <a:rPr lang="en-US" sz="1600" dirty="0" err="1"/>
              <a:t>Chirurgie</a:t>
            </a:r>
            <a:r>
              <a:rPr lang="en-US" sz="1600" dirty="0"/>
              <a:t> </a:t>
            </a:r>
            <a:r>
              <a:rPr lang="en-US" sz="1600" dirty="0" err="1"/>
              <a:t>ein</a:t>
            </a:r>
            <a:r>
              <a:rPr lang="en-US" sz="1600" dirty="0"/>
              <a:t> </a:t>
            </a:r>
            <a:r>
              <a:rPr lang="en-US" sz="1600" dirty="0" err="1"/>
              <a:t>prägendes</a:t>
            </a:r>
            <a:r>
              <a:rPr lang="en-US" sz="1600" dirty="0"/>
              <a:t> Feld</a:t>
            </a:r>
          </a:p>
          <a:p>
            <a:r>
              <a:rPr lang="en-US" sz="1600" dirty="0"/>
              <a:t>So </a:t>
            </a:r>
            <a:r>
              <a:rPr lang="en-US" sz="1600" dirty="0" err="1"/>
              <a:t>werden</a:t>
            </a:r>
            <a:r>
              <a:rPr lang="en-US" sz="1600" dirty="0"/>
              <a:t> </a:t>
            </a:r>
            <a:r>
              <a:rPr lang="en-US" sz="1600" dirty="0" err="1"/>
              <a:t>aus</a:t>
            </a:r>
            <a:r>
              <a:rPr lang="en-US" sz="1600" dirty="0"/>
              <a:t> </a:t>
            </a:r>
            <a:r>
              <a:rPr lang="en-US" sz="1600" dirty="0" err="1"/>
              <a:t>diesem</a:t>
            </a:r>
            <a:r>
              <a:rPr lang="en-US" sz="1600" dirty="0"/>
              <a:t> </a:t>
            </a:r>
            <a:r>
              <a:rPr lang="en-US" sz="1600" dirty="0" err="1"/>
              <a:t>Bereich</a:t>
            </a:r>
            <a:r>
              <a:rPr lang="en-US" sz="1600" dirty="0"/>
              <a:t> </a:t>
            </a:r>
            <a:r>
              <a:rPr lang="en-US" sz="1600" dirty="0" err="1"/>
              <a:t>aus</a:t>
            </a:r>
            <a:r>
              <a:rPr lang="en-US" sz="1600" dirty="0"/>
              <a:t> </a:t>
            </a:r>
            <a:r>
              <a:rPr lang="en-US" sz="1600" dirty="0" err="1"/>
              <a:t>entwickelten</a:t>
            </a:r>
            <a:r>
              <a:rPr lang="en-US" sz="1600" dirty="0"/>
              <a:t> </a:t>
            </a:r>
            <a:r>
              <a:rPr lang="en-US" sz="1600" dirty="0" err="1"/>
              <a:t>Geräte</a:t>
            </a:r>
            <a:r>
              <a:rPr lang="en-US" sz="1600" dirty="0"/>
              <a:t> </a:t>
            </a:r>
            <a:r>
              <a:rPr lang="en-US" sz="1600" dirty="0" err="1"/>
              <a:t>verwendet</a:t>
            </a:r>
            <a:endParaRPr lang="en-US" sz="1600" dirty="0"/>
          </a:p>
          <a:p>
            <a:r>
              <a:rPr lang="en-US" sz="1600" dirty="0" err="1"/>
              <a:t>Einige</a:t>
            </a:r>
            <a:r>
              <a:rPr lang="en-US" sz="1600" dirty="0"/>
              <a:t> </a:t>
            </a:r>
            <a:r>
              <a:rPr lang="en-US" sz="1600" dirty="0" err="1"/>
              <a:t>Beispiele</a:t>
            </a:r>
            <a:r>
              <a:rPr lang="en-US" sz="1600" dirty="0"/>
              <a:t>:</a:t>
            </a:r>
          </a:p>
          <a:p>
            <a:pPr lvl="1"/>
            <a:r>
              <a:rPr lang="en-US" sz="1400" dirty="0"/>
              <a:t>“</a:t>
            </a:r>
            <a:r>
              <a:rPr lang="en-US" sz="1400" dirty="0" err="1"/>
              <a:t>Ultraschall-Gerät</a:t>
            </a:r>
            <a:r>
              <a:rPr lang="en-US" sz="1400" dirty="0"/>
              <a:t>” (</a:t>
            </a:r>
            <a:r>
              <a:rPr lang="en-US" sz="1400" dirty="0" err="1"/>
              <a:t>Kosten</a:t>
            </a:r>
            <a:r>
              <a:rPr lang="en-US" sz="1400" dirty="0"/>
              <a:t> ab 15.000 €)</a:t>
            </a:r>
          </a:p>
          <a:p>
            <a:pPr lvl="1"/>
            <a:r>
              <a:rPr lang="en-US" sz="1400" dirty="0"/>
              <a:t>“</a:t>
            </a:r>
            <a:r>
              <a:rPr lang="en-US" sz="1400" dirty="0" err="1"/>
              <a:t>Hochfrequenzchirurgie-Gerät</a:t>
            </a:r>
            <a:r>
              <a:rPr lang="en-US" sz="1400" dirty="0"/>
              <a:t>” (</a:t>
            </a:r>
            <a:r>
              <a:rPr lang="en-US" sz="1400" dirty="0" err="1"/>
              <a:t>Kosten</a:t>
            </a:r>
            <a:r>
              <a:rPr lang="en-US" sz="1400" dirty="0"/>
              <a:t> ab 2.900 €)</a:t>
            </a:r>
          </a:p>
          <a:p>
            <a:pPr lvl="1"/>
            <a:r>
              <a:rPr lang="en-US" sz="1400" dirty="0"/>
              <a:t>”Operations-Laser” (</a:t>
            </a:r>
            <a:r>
              <a:rPr lang="en-US" sz="1400" dirty="0" err="1"/>
              <a:t>Kosten</a:t>
            </a:r>
            <a:r>
              <a:rPr lang="en-US" sz="1400" dirty="0"/>
              <a:t> ab 799 €)</a:t>
            </a:r>
          </a:p>
          <a:p>
            <a:pPr lvl="1"/>
            <a:r>
              <a:rPr lang="en-US" sz="1400" dirty="0"/>
              <a:t>Mobiles </a:t>
            </a:r>
            <a:r>
              <a:rPr lang="en-US" sz="1400" dirty="0" err="1"/>
              <a:t>Beatmungs-Gerät</a:t>
            </a:r>
            <a:r>
              <a:rPr lang="en-US" sz="1400" dirty="0"/>
              <a:t> (</a:t>
            </a:r>
            <a:r>
              <a:rPr lang="en-US" sz="1400" dirty="0" err="1"/>
              <a:t>Kosten</a:t>
            </a:r>
            <a:r>
              <a:rPr lang="en-US" sz="1400" dirty="0"/>
              <a:t> ab 6.600 €)</a:t>
            </a:r>
          </a:p>
          <a:p>
            <a:pPr lvl="1"/>
            <a:r>
              <a:rPr lang="en-US" sz="1400" dirty="0"/>
              <a:t>“</a:t>
            </a:r>
            <a:r>
              <a:rPr lang="en-US" sz="1400" dirty="0" err="1"/>
              <a:t>Wärmetherapie-Gerät</a:t>
            </a:r>
            <a:r>
              <a:rPr lang="en-US" sz="1400" dirty="0"/>
              <a:t>” (</a:t>
            </a:r>
            <a:r>
              <a:rPr lang="en-US" sz="1400" dirty="0" err="1"/>
              <a:t>Kosten</a:t>
            </a:r>
            <a:r>
              <a:rPr lang="en-US" sz="1400" dirty="0"/>
              <a:t> ab 150 €)</a:t>
            </a:r>
          </a:p>
          <a:p>
            <a:pPr lvl="1"/>
            <a:r>
              <a:rPr lang="en-US" sz="1400" dirty="0"/>
              <a:t>“</a:t>
            </a:r>
            <a:r>
              <a:rPr lang="en-US" sz="1400" dirty="0" err="1"/>
              <a:t>Narkose-Gerät</a:t>
            </a:r>
            <a:r>
              <a:rPr lang="en-US" sz="1400" dirty="0"/>
              <a:t> (</a:t>
            </a:r>
            <a:r>
              <a:rPr lang="en-US" sz="1400" dirty="0" err="1"/>
              <a:t>mobil</a:t>
            </a:r>
            <a:r>
              <a:rPr lang="en-US" sz="1400" dirty="0"/>
              <a:t>)” (</a:t>
            </a:r>
            <a:r>
              <a:rPr lang="en-US" sz="1400" dirty="0" err="1"/>
              <a:t>Kosten</a:t>
            </a:r>
            <a:r>
              <a:rPr lang="en-US" sz="1400" dirty="0"/>
              <a:t> ab 16.600 €)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547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>
                <a:solidFill>
                  <a:schemeClr val="tx1"/>
                </a:solidFill>
              </a:rPr>
              <a:t>Chirurgische Instrumente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2050" name="Picture 2" descr="Surgical Instruments Market Outlook (2019 – 2025) – Industry Growth  Factors, Market Revenue and More: QY Research | Medgadget">
            <a:extLst>
              <a:ext uri="{FF2B5EF4-FFF2-40B4-BE49-F238E27FC236}">
                <a16:creationId xmlns:a16="http://schemas.microsoft.com/office/drawing/2014/main" id="{C965D740-C07B-7C45-BC50-090696C206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675" y="1715006"/>
            <a:ext cx="6080125" cy="342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515DA7-5A10-8F42-98CC-E37AEBA16236}"/>
              </a:ext>
            </a:extLst>
          </p:cNvPr>
          <p:cNvSpPr txBox="1"/>
          <p:nvPr/>
        </p:nvSpPr>
        <p:spPr>
          <a:xfrm>
            <a:off x="5146675" y="5240216"/>
            <a:ext cx="6080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/>
              <a:t>Chrurgische</a:t>
            </a:r>
            <a:r>
              <a:rPr lang="en-US" sz="1600" dirty="0"/>
              <a:t> </a:t>
            </a:r>
            <a:r>
              <a:rPr lang="en-US" sz="1600" dirty="0" err="1"/>
              <a:t>Instrumente</a:t>
            </a:r>
            <a:r>
              <a:rPr lang="en-US" sz="1600" dirty="0"/>
              <a:t> </a:t>
            </a:r>
            <a:r>
              <a:rPr lang="en-US" sz="1600" dirty="0" err="1"/>
              <a:t>sind</a:t>
            </a:r>
            <a:r>
              <a:rPr lang="en-US" sz="1600" dirty="0"/>
              <a:t> </a:t>
            </a:r>
            <a:r>
              <a:rPr lang="en-US" sz="1600" dirty="0" err="1"/>
              <a:t>spezielle</a:t>
            </a:r>
            <a:r>
              <a:rPr lang="en-US" sz="1600" dirty="0"/>
              <a:t> </a:t>
            </a:r>
            <a:r>
              <a:rPr lang="en-US" sz="1600" dirty="0" err="1"/>
              <a:t>Werkzeuge</a:t>
            </a:r>
            <a:r>
              <a:rPr lang="en-US" sz="1600" dirty="0"/>
              <a:t>, die in der </a:t>
            </a:r>
            <a:r>
              <a:rPr lang="en-US" sz="1600" dirty="0" err="1"/>
              <a:t>Chirurgie</a:t>
            </a:r>
            <a:r>
              <a:rPr lang="en-US" sz="1600" dirty="0"/>
              <a:t> </a:t>
            </a:r>
            <a:r>
              <a:rPr lang="en-US" sz="1600" dirty="0" err="1"/>
              <a:t>zum</a:t>
            </a:r>
            <a:r>
              <a:rPr lang="en-US" sz="1600" dirty="0"/>
              <a:t> </a:t>
            </a:r>
            <a:r>
              <a:rPr lang="en-US" sz="1600" dirty="0" err="1"/>
              <a:t>Beispiel</a:t>
            </a:r>
            <a:r>
              <a:rPr lang="en-US" sz="1600" dirty="0"/>
              <a:t> </a:t>
            </a:r>
            <a:r>
              <a:rPr lang="en-US" sz="1600" dirty="0" err="1"/>
              <a:t>während</a:t>
            </a:r>
            <a:r>
              <a:rPr lang="en-US" sz="1600" dirty="0"/>
              <a:t> </a:t>
            </a:r>
            <a:r>
              <a:rPr lang="en-US" sz="1600" dirty="0" err="1"/>
              <a:t>einer</a:t>
            </a:r>
            <a:r>
              <a:rPr lang="en-US" sz="1600" dirty="0"/>
              <a:t> Operation </a:t>
            </a:r>
            <a:r>
              <a:rPr lang="en-US" sz="1600" dirty="0" err="1"/>
              <a:t>eingesetzt</a:t>
            </a:r>
            <a:r>
              <a:rPr lang="en-US" sz="1600" dirty="0"/>
              <a:t> </a:t>
            </a:r>
            <a:r>
              <a:rPr lang="en-US" sz="1600" dirty="0" err="1"/>
              <a:t>werden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7331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16DA-E2EC-654A-9F95-F5DA2DA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49" y="1218476"/>
            <a:ext cx="3356869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Chirurgische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Instrumente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E623-851F-2748-AB9D-244B0C23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“</a:t>
            </a:r>
            <a:r>
              <a:rPr lang="en-US" sz="1600" dirty="0" err="1"/>
              <a:t>Pinzetten</a:t>
            </a:r>
            <a:r>
              <a:rPr lang="en-US" sz="1600" dirty="0"/>
              <a:t>”, um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greifen</a:t>
            </a:r>
            <a:r>
              <a:rPr lang="en-US" sz="1600" dirty="0"/>
              <a:t> (</a:t>
            </a:r>
            <a:r>
              <a:rPr lang="en-US" sz="1600" dirty="0" err="1"/>
              <a:t>Gewebe</a:t>
            </a:r>
            <a:r>
              <a:rPr lang="en-US" sz="1600" dirty="0"/>
              <a:t>)</a:t>
            </a:r>
          </a:p>
          <a:p>
            <a:r>
              <a:rPr lang="en-US" sz="1600" dirty="0"/>
              <a:t>“</a:t>
            </a:r>
            <a:r>
              <a:rPr lang="en-US" sz="1600" dirty="0" err="1"/>
              <a:t>Klemmen</a:t>
            </a:r>
            <a:r>
              <a:rPr lang="en-US" sz="1600" dirty="0"/>
              <a:t>” </a:t>
            </a:r>
            <a:r>
              <a:rPr lang="en-US" sz="1600" dirty="0" err="1"/>
              <a:t>zum</a:t>
            </a:r>
            <a:r>
              <a:rPr lang="en-US" sz="1600" dirty="0"/>
              <a:t> </a:t>
            </a:r>
            <a:r>
              <a:rPr lang="en-US" sz="1600" dirty="0" err="1"/>
              <a:t>Fassen</a:t>
            </a:r>
            <a:endParaRPr lang="en-US" sz="1600" dirty="0"/>
          </a:p>
          <a:p>
            <a:r>
              <a:rPr lang="en-US" sz="1600" dirty="0"/>
              <a:t>“</a:t>
            </a:r>
            <a:r>
              <a:rPr lang="en-US" sz="1600" dirty="0" err="1"/>
              <a:t>Scheren</a:t>
            </a:r>
            <a:r>
              <a:rPr lang="en-US" sz="1600" dirty="0"/>
              <a:t>” </a:t>
            </a:r>
            <a:r>
              <a:rPr lang="en-US" sz="1600" dirty="0" err="1"/>
              <a:t>zum</a:t>
            </a:r>
            <a:r>
              <a:rPr lang="en-US" sz="1600" dirty="0"/>
              <a:t> </a:t>
            </a:r>
            <a:r>
              <a:rPr lang="en-US" sz="1600" dirty="0" err="1"/>
              <a:t>Schneiden</a:t>
            </a:r>
            <a:endParaRPr lang="en-US" sz="1600" dirty="0"/>
          </a:p>
          <a:p>
            <a:r>
              <a:rPr lang="en-US" sz="1600" dirty="0"/>
              <a:t>“</a:t>
            </a:r>
            <a:r>
              <a:rPr lang="en-US" sz="1600" dirty="0" err="1"/>
              <a:t>Wundhaken</a:t>
            </a:r>
            <a:r>
              <a:rPr lang="en-US" sz="1600" dirty="0"/>
              <a:t>”, um </a:t>
            </a:r>
            <a:r>
              <a:rPr lang="en-US" sz="1600" dirty="0" err="1"/>
              <a:t>einen</a:t>
            </a:r>
            <a:r>
              <a:rPr lang="en-US" sz="1600" dirty="0"/>
              <a:t> </a:t>
            </a:r>
            <a:r>
              <a:rPr lang="en-US" sz="1600" dirty="0" err="1"/>
              <a:t>Überblick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verschaffen</a:t>
            </a:r>
            <a:endParaRPr lang="en-US" sz="1600" dirty="0"/>
          </a:p>
          <a:p>
            <a:r>
              <a:rPr lang="en-US" sz="1600" dirty="0"/>
              <a:t>”</a:t>
            </a:r>
            <a:r>
              <a:rPr lang="en-US" sz="1600" dirty="0" err="1"/>
              <a:t>Redonspieß</a:t>
            </a:r>
            <a:r>
              <a:rPr lang="en-US" sz="1600" dirty="0"/>
              <a:t>” </a:t>
            </a:r>
            <a:r>
              <a:rPr lang="en-US" sz="1600" dirty="0" err="1"/>
              <a:t>für</a:t>
            </a:r>
            <a:r>
              <a:rPr lang="en-US" sz="1600" dirty="0"/>
              <a:t> die “</a:t>
            </a:r>
            <a:r>
              <a:rPr lang="en-US" sz="1600" dirty="0" err="1"/>
              <a:t>Redondrainage</a:t>
            </a:r>
            <a:r>
              <a:rPr lang="en-US" sz="1600" dirty="0"/>
              <a:t>”</a:t>
            </a:r>
          </a:p>
          <a:p>
            <a:r>
              <a:rPr lang="en-US" sz="1600" dirty="0"/>
              <a:t>“</a:t>
            </a:r>
            <a:r>
              <a:rPr lang="en-US" sz="1600" dirty="0" err="1"/>
              <a:t>Nadelhalter</a:t>
            </a:r>
            <a:r>
              <a:rPr lang="en-US" sz="1600" dirty="0"/>
              <a:t>” </a:t>
            </a:r>
            <a:r>
              <a:rPr lang="en-US" sz="1600" dirty="0" err="1"/>
              <a:t>zum</a:t>
            </a:r>
            <a:r>
              <a:rPr lang="en-US" sz="1600" dirty="0"/>
              <a:t> </a:t>
            </a:r>
            <a:r>
              <a:rPr lang="en-US" sz="1600" dirty="0" err="1"/>
              <a:t>Zusammenbinden</a:t>
            </a:r>
            <a:endParaRPr lang="en-US" sz="1600" dirty="0"/>
          </a:p>
          <a:p>
            <a:r>
              <a:rPr lang="en-US" sz="1600" dirty="0"/>
              <a:t>All </a:t>
            </a:r>
            <a:r>
              <a:rPr lang="en-US" sz="1600" dirty="0" err="1"/>
              <a:t>diese</a:t>
            </a:r>
            <a:r>
              <a:rPr lang="en-US" sz="1600" dirty="0"/>
              <a:t> </a:t>
            </a:r>
            <a:r>
              <a:rPr lang="en-US" sz="1600" dirty="0" err="1"/>
              <a:t>Instrumente</a:t>
            </a:r>
            <a:r>
              <a:rPr lang="en-US" sz="1600" dirty="0"/>
              <a:t> </a:t>
            </a:r>
            <a:r>
              <a:rPr lang="en-US" sz="1600" dirty="0" err="1"/>
              <a:t>kommen</a:t>
            </a:r>
            <a:r>
              <a:rPr lang="en-US" sz="1600" dirty="0"/>
              <a:t> in </a:t>
            </a:r>
            <a:r>
              <a:rPr lang="en-US" sz="1600" dirty="0" err="1"/>
              <a:t>Unterschiedlichen</a:t>
            </a:r>
            <a:r>
              <a:rPr lang="en-US" sz="1600" dirty="0"/>
              <a:t> </a:t>
            </a:r>
            <a:r>
              <a:rPr lang="en-US" sz="1600" dirty="0" err="1"/>
              <a:t>Variationen</a:t>
            </a:r>
            <a:r>
              <a:rPr lang="en-US" sz="1600" dirty="0"/>
              <a:t> und </a:t>
            </a:r>
            <a:r>
              <a:rPr lang="en-US" sz="1600" dirty="0" err="1"/>
              <a:t>Modifikationen</a:t>
            </a:r>
            <a:r>
              <a:rPr lang="en-US" sz="1600" dirty="0"/>
              <a:t> </a:t>
            </a:r>
            <a:r>
              <a:rPr lang="en-US" sz="1600" dirty="0" err="1"/>
              <a:t>vor</a:t>
            </a:r>
            <a:r>
              <a:rPr lang="en-US" sz="1600" dirty="0"/>
              <a:t>, je </a:t>
            </a:r>
            <a:r>
              <a:rPr lang="en-US" sz="1600" dirty="0" err="1"/>
              <a:t>nach</a:t>
            </a:r>
            <a:r>
              <a:rPr lang="en-US" sz="1600" dirty="0"/>
              <a:t> </a:t>
            </a:r>
            <a:r>
              <a:rPr lang="en-US" sz="1600" dirty="0" err="1"/>
              <a:t>Größe</a:t>
            </a:r>
            <a:r>
              <a:rPr lang="en-US" sz="1600" dirty="0"/>
              <a:t> und </a:t>
            </a:r>
            <a:r>
              <a:rPr lang="en-US" sz="1600" dirty="0" err="1"/>
              <a:t>Struktur</a:t>
            </a:r>
            <a:r>
              <a:rPr lang="en-US" sz="1600" dirty="0"/>
              <a:t> der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operierenden</a:t>
            </a:r>
            <a:r>
              <a:rPr lang="en-US" sz="1600" dirty="0"/>
              <a:t> </a:t>
            </a:r>
            <a:r>
              <a:rPr lang="en-US" sz="1600" dirty="0" err="1"/>
              <a:t>Flächen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A064-21E8-064B-98C0-240BB635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D82F-833A-4E46-A059-54E5DFE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25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2B04B-AE04-744C-8AA7-C2257337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>
                <a:solidFill>
                  <a:schemeClr val="tx1"/>
                </a:solidFill>
              </a:rPr>
              <a:t>Zukunft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6216-9E74-7141-8BF6-C6EAAD131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3D-Druck (Additive </a:t>
            </a:r>
            <a:r>
              <a:rPr lang="en-US" sz="1600" dirty="0" err="1"/>
              <a:t>Fertigung</a:t>
            </a:r>
            <a:r>
              <a:rPr lang="en-US" sz="1600" dirty="0"/>
              <a:t>) </a:t>
            </a:r>
            <a:r>
              <a:rPr lang="en-US" sz="1600" dirty="0" err="1"/>
              <a:t>wird</a:t>
            </a:r>
            <a:r>
              <a:rPr lang="en-US" sz="1600" dirty="0"/>
              <a:t> </a:t>
            </a:r>
            <a:r>
              <a:rPr lang="en-US" sz="1600" dirty="0" err="1"/>
              <a:t>eine</a:t>
            </a:r>
            <a:r>
              <a:rPr lang="en-US" sz="1600" dirty="0"/>
              <a:t> </a:t>
            </a:r>
            <a:r>
              <a:rPr lang="en-US" sz="1600" dirty="0" err="1"/>
              <a:t>immer</a:t>
            </a:r>
            <a:r>
              <a:rPr lang="en-US" sz="1600" dirty="0"/>
              <a:t> </a:t>
            </a:r>
            <a:r>
              <a:rPr lang="en-US" sz="1600"/>
              <a:t>wichtigere </a:t>
            </a:r>
            <a:r>
              <a:rPr lang="en-US" sz="1600" dirty="0"/>
              <a:t>Rolle </a:t>
            </a:r>
            <a:r>
              <a:rPr lang="en-US" sz="1600" dirty="0" err="1"/>
              <a:t>spielen</a:t>
            </a:r>
            <a:endParaRPr lang="en-US" sz="1600" dirty="0"/>
          </a:p>
          <a:p>
            <a:r>
              <a:rPr lang="en-US" sz="1600" dirty="0" err="1"/>
              <a:t>Für</a:t>
            </a:r>
            <a:r>
              <a:rPr lang="en-US" sz="1600" dirty="0"/>
              <a:t> </a:t>
            </a:r>
            <a:r>
              <a:rPr lang="en-US" sz="1600" dirty="0" err="1"/>
              <a:t>Chirurgen</a:t>
            </a:r>
            <a:r>
              <a:rPr lang="en-US" sz="1600" dirty="0"/>
              <a:t> </a:t>
            </a:r>
            <a:r>
              <a:rPr lang="en-US" sz="1600" dirty="0" err="1"/>
              <a:t>gibt</a:t>
            </a:r>
            <a:r>
              <a:rPr lang="en-US" sz="1600" dirty="0"/>
              <a:t> es </a:t>
            </a:r>
            <a:r>
              <a:rPr lang="en-US" sz="1600" dirty="0" err="1"/>
              <a:t>eine</a:t>
            </a:r>
            <a:r>
              <a:rPr lang="en-US" sz="1600" dirty="0"/>
              <a:t> </a:t>
            </a:r>
            <a:r>
              <a:rPr lang="en-US" sz="1600" dirty="0" err="1"/>
              <a:t>hohe</a:t>
            </a:r>
            <a:r>
              <a:rPr lang="en-US" sz="1600" dirty="0"/>
              <a:t> </a:t>
            </a:r>
            <a:r>
              <a:rPr lang="en-US" sz="1600" dirty="0" err="1"/>
              <a:t>Nachfrage</a:t>
            </a:r>
            <a:endParaRPr lang="en-US" sz="1600" dirty="0"/>
          </a:p>
          <a:p>
            <a:r>
              <a:rPr lang="en-US" sz="1600" dirty="0" err="1"/>
              <a:t>Künstliche</a:t>
            </a:r>
            <a:r>
              <a:rPr lang="en-US" sz="1600" dirty="0"/>
              <a:t> </a:t>
            </a:r>
            <a:r>
              <a:rPr lang="en-US" sz="1600" dirty="0" err="1"/>
              <a:t>Intelligenz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r>
              <a:rPr lang="en-US" sz="1600" dirty="0"/>
              <a:t> </a:t>
            </a:r>
            <a:r>
              <a:rPr lang="en-US" sz="1600" dirty="0" err="1"/>
              <a:t>unterstützend</a:t>
            </a:r>
            <a:r>
              <a:rPr lang="en-US" sz="1600" dirty="0"/>
              <a:t> </a:t>
            </a:r>
            <a:r>
              <a:rPr lang="en-US" sz="1600" dirty="0" err="1"/>
              <a:t>Einfluss</a:t>
            </a:r>
            <a:r>
              <a:rPr lang="en-US" sz="1600" dirty="0"/>
              <a:t> </a:t>
            </a:r>
            <a:r>
              <a:rPr lang="en-US" sz="1600" dirty="0" err="1"/>
              <a:t>nehmen</a:t>
            </a:r>
            <a:endParaRPr lang="en-US" sz="1600" dirty="0"/>
          </a:p>
          <a:p>
            <a:r>
              <a:rPr lang="en-US" sz="1600" dirty="0" err="1"/>
              <a:t>Maschinen</a:t>
            </a:r>
            <a:r>
              <a:rPr lang="en-US" sz="1600" dirty="0"/>
              <a:t>, die </a:t>
            </a:r>
            <a:r>
              <a:rPr lang="en-US" sz="1600" dirty="0" err="1"/>
              <a:t>Chirurgen</a:t>
            </a:r>
            <a:r>
              <a:rPr lang="en-US" sz="1600" dirty="0"/>
              <a:t> </a:t>
            </a:r>
            <a:r>
              <a:rPr lang="en-US" sz="1600" dirty="0" err="1"/>
              <a:t>unterstützen</a:t>
            </a:r>
            <a:endParaRPr lang="en-US" sz="1600" dirty="0"/>
          </a:p>
          <a:p>
            <a:r>
              <a:rPr lang="en-US" sz="1600" dirty="0" err="1"/>
              <a:t>Daraus</a:t>
            </a:r>
            <a:r>
              <a:rPr lang="en-US" sz="1600" dirty="0"/>
              <a:t> </a:t>
            </a:r>
            <a:r>
              <a:rPr lang="en-US" sz="1600" dirty="0" err="1"/>
              <a:t>resultierendende</a:t>
            </a:r>
            <a:r>
              <a:rPr lang="en-US" sz="1600" dirty="0"/>
              <a:t> </a:t>
            </a:r>
            <a:r>
              <a:rPr lang="en-US" sz="1600" dirty="0" err="1"/>
              <a:t>Effizienz</a:t>
            </a:r>
            <a:r>
              <a:rPr lang="en-US" sz="1600" dirty="0"/>
              <a:t>, Zeit- und </a:t>
            </a:r>
            <a:r>
              <a:rPr lang="en-US" sz="1600" dirty="0" err="1"/>
              <a:t>Kostenersparnis</a:t>
            </a:r>
            <a:r>
              <a:rPr lang="en-US" sz="1600" dirty="0"/>
              <a:t> </a:t>
            </a:r>
            <a:r>
              <a:rPr lang="en-US" sz="1600" dirty="0" err="1"/>
              <a:t>garantieren</a:t>
            </a:r>
            <a:r>
              <a:rPr lang="en-US" sz="1600" dirty="0"/>
              <a:t> </a:t>
            </a:r>
            <a:r>
              <a:rPr lang="en-US" sz="1600" dirty="0" err="1"/>
              <a:t>eine</a:t>
            </a:r>
            <a:r>
              <a:rPr lang="en-US" sz="1600" dirty="0"/>
              <a:t> </a:t>
            </a:r>
            <a:r>
              <a:rPr lang="en-US" sz="1600" dirty="0" err="1"/>
              <a:t>qualitativ</a:t>
            </a:r>
            <a:r>
              <a:rPr lang="en-US" sz="1600" dirty="0"/>
              <a:t> </a:t>
            </a:r>
            <a:r>
              <a:rPr lang="en-US" sz="1600" dirty="0" err="1"/>
              <a:t>bessere</a:t>
            </a:r>
            <a:r>
              <a:rPr lang="en-US" sz="1600" dirty="0"/>
              <a:t> und </a:t>
            </a:r>
            <a:r>
              <a:rPr lang="en-US" sz="1600" dirty="0" err="1"/>
              <a:t>quantativ</a:t>
            </a:r>
            <a:r>
              <a:rPr lang="en-US" sz="1600" dirty="0"/>
              <a:t> </a:t>
            </a:r>
            <a:r>
              <a:rPr lang="en-US" sz="1600" dirty="0" err="1"/>
              <a:t>ansteigende</a:t>
            </a:r>
            <a:r>
              <a:rPr lang="en-US" sz="1600" dirty="0"/>
              <a:t> </a:t>
            </a:r>
            <a:r>
              <a:rPr lang="en-US" sz="1600" dirty="0" err="1"/>
              <a:t>Zahlen</a:t>
            </a:r>
            <a:r>
              <a:rPr lang="en-US" sz="1600" dirty="0"/>
              <a:t> an </a:t>
            </a:r>
            <a:r>
              <a:rPr lang="en-US" sz="1600" dirty="0" err="1"/>
              <a:t>geretteten</a:t>
            </a:r>
            <a:r>
              <a:rPr lang="en-US" sz="1600" dirty="0"/>
              <a:t> </a:t>
            </a:r>
            <a:r>
              <a:rPr lang="en-US" sz="1600" dirty="0" err="1"/>
              <a:t>Menschenleben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5F026-B883-FB43-893E-7719AEEA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E63E8-F9BF-EB44-9F91-F773B8D7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867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21DB7-4DF4-7A4A-9E98-D831FCCC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 dirty="0" err="1">
                <a:solidFill>
                  <a:schemeClr val="tx1"/>
                </a:solidFill>
              </a:rPr>
              <a:t>Fazit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A4393-F51E-9744-AE90-D422A71BF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US" sz="1600" dirty="0"/>
              <a:t>Teil der </a:t>
            </a:r>
            <a:r>
              <a:rPr lang="en-US" sz="1600" dirty="0" err="1"/>
              <a:t>Menschheitsgeschichte</a:t>
            </a:r>
            <a:endParaRPr lang="en-US" sz="1600" dirty="0"/>
          </a:p>
          <a:p>
            <a:r>
              <a:rPr lang="en-US" sz="1600" dirty="0" err="1"/>
              <a:t>Nicht</a:t>
            </a:r>
            <a:r>
              <a:rPr lang="en-US" sz="1600" dirty="0"/>
              <a:t> </a:t>
            </a:r>
            <a:r>
              <a:rPr lang="en-US" sz="1600" dirty="0" err="1"/>
              <a:t>mehr</a:t>
            </a:r>
            <a:r>
              <a:rPr lang="en-US" sz="1600" dirty="0"/>
              <a:t> </a:t>
            </a:r>
            <a:r>
              <a:rPr lang="en-US" sz="1600" dirty="0" err="1"/>
              <a:t>wegzudenken</a:t>
            </a:r>
            <a:endParaRPr lang="en-US" sz="1600" dirty="0"/>
          </a:p>
          <a:p>
            <a:r>
              <a:rPr lang="en-US" sz="1600" dirty="0" err="1"/>
              <a:t>Lebensnotwendig</a:t>
            </a:r>
            <a:endParaRPr lang="en-US" sz="1600" dirty="0"/>
          </a:p>
          <a:p>
            <a:r>
              <a:rPr lang="en-US" sz="1600" dirty="0" err="1"/>
              <a:t>Parallelen</a:t>
            </a:r>
            <a:r>
              <a:rPr lang="en-US" sz="1600" dirty="0"/>
              <a:t> </a:t>
            </a:r>
            <a:r>
              <a:rPr lang="en-US" sz="1600" dirty="0" err="1"/>
              <a:t>zum</a:t>
            </a:r>
            <a:r>
              <a:rPr lang="en-US" sz="1600" dirty="0"/>
              <a:t> </a:t>
            </a:r>
            <a:r>
              <a:rPr lang="en-US" sz="1600" dirty="0" err="1"/>
              <a:t>technischen</a:t>
            </a:r>
            <a:r>
              <a:rPr lang="en-US" sz="1600" dirty="0"/>
              <a:t> </a:t>
            </a:r>
            <a:r>
              <a:rPr lang="en-US" sz="1600" dirty="0" err="1"/>
              <a:t>Ingenieurwesen</a:t>
            </a:r>
            <a:endParaRPr lang="en-US" sz="1600" dirty="0"/>
          </a:p>
          <a:p>
            <a:r>
              <a:rPr lang="en-US" sz="1600" dirty="0" err="1"/>
              <a:t>Durch</a:t>
            </a:r>
            <a:r>
              <a:rPr lang="en-US" sz="1600" dirty="0"/>
              <a:t> die in </a:t>
            </a:r>
            <a:r>
              <a:rPr lang="en-US" sz="1600" dirty="0" err="1"/>
              <a:t>Ingenierwesen</a:t>
            </a:r>
            <a:r>
              <a:rPr lang="en-US" sz="1600" dirty="0"/>
              <a:t> und </a:t>
            </a:r>
            <a:r>
              <a:rPr lang="en-US" sz="1600" dirty="0" err="1"/>
              <a:t>Wissenschaft</a:t>
            </a:r>
            <a:r>
              <a:rPr lang="en-US" sz="1600" dirty="0"/>
              <a:t> </a:t>
            </a:r>
            <a:r>
              <a:rPr lang="en-US" sz="1600" dirty="0" err="1"/>
              <a:t>gewonnen</a:t>
            </a:r>
            <a:r>
              <a:rPr lang="en-US" sz="1600" dirty="0"/>
              <a:t> </a:t>
            </a:r>
            <a:r>
              <a:rPr lang="en-US" sz="1600" dirty="0" err="1"/>
              <a:t>Erkenntnisse</a:t>
            </a:r>
            <a:r>
              <a:rPr lang="en-US" sz="1600" dirty="0"/>
              <a:t> und </a:t>
            </a:r>
            <a:r>
              <a:rPr lang="en-US" sz="1600" dirty="0" err="1"/>
              <a:t>Innovationen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r>
              <a:rPr lang="en-US" sz="1600" dirty="0"/>
              <a:t> </a:t>
            </a:r>
            <a:r>
              <a:rPr lang="en-US" sz="1600" dirty="0" err="1"/>
              <a:t>auch</a:t>
            </a:r>
            <a:r>
              <a:rPr lang="en-US" sz="1600" dirty="0"/>
              <a:t> die </a:t>
            </a:r>
            <a:r>
              <a:rPr lang="en-US" sz="1600" dirty="0" err="1"/>
              <a:t>Chirurgie</a:t>
            </a:r>
            <a:r>
              <a:rPr lang="en-US" sz="1600" dirty="0"/>
              <a:t> </a:t>
            </a:r>
            <a:r>
              <a:rPr lang="en-US" sz="1600" dirty="0" err="1"/>
              <a:t>weiterhin</a:t>
            </a:r>
            <a:r>
              <a:rPr lang="en-US" sz="1600" dirty="0"/>
              <a:t> </a:t>
            </a:r>
            <a:r>
              <a:rPr lang="en-US" sz="1600" dirty="0" err="1"/>
              <a:t>auch</a:t>
            </a:r>
            <a:r>
              <a:rPr lang="en-US" sz="1600" dirty="0"/>
              <a:t> </a:t>
            </a:r>
            <a:r>
              <a:rPr lang="en-US" sz="1600" dirty="0" err="1"/>
              <a:t>noch</a:t>
            </a:r>
            <a:r>
              <a:rPr lang="en-US" sz="1600" dirty="0"/>
              <a:t> </a:t>
            </a:r>
            <a:r>
              <a:rPr lang="en-US" sz="1600" dirty="0" err="1"/>
              <a:t>mehr</a:t>
            </a:r>
            <a:r>
              <a:rPr lang="en-US" sz="1600" dirty="0"/>
              <a:t> </a:t>
            </a:r>
            <a:r>
              <a:rPr lang="en-US" sz="1600" dirty="0" err="1"/>
              <a:t>profitieren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04D49-0A11-6A47-B1EE-E7B36903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0BF6A-7622-1548-8E55-72F4CF343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8828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0628-58ED-E648-8CE2-A96A7A36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Abbildungsverzeichnis</a:t>
            </a:r>
            <a:r>
              <a:rPr lang="en-US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81E76-6AA4-E345-995C-6EB5F92BF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iiif.wellcomecollection.org</a:t>
            </a:r>
            <a:r>
              <a:rPr lang="en-US" dirty="0"/>
              <a:t>/image/V0028484EL.jpg/full/300,/0/</a:t>
            </a:r>
            <a:r>
              <a:rPr lang="en-US" dirty="0" err="1"/>
              <a:t>default.jpg</a:t>
            </a:r>
            <a:r>
              <a:rPr lang="en-US" dirty="0"/>
              <a:t> [Slide 3]</a:t>
            </a:r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/profile/</a:t>
            </a:r>
            <a:r>
              <a:rPr lang="en-US" dirty="0" err="1"/>
              <a:t>Satbir_Grover</a:t>
            </a:r>
            <a:r>
              <a:rPr lang="en-US" dirty="0"/>
              <a:t>/publication/293098432/figure/fig1/AS:672198465441792@1537276011139/ASA-Physical-Status-Classification-System-27.png [Slide 9]</a:t>
            </a:r>
          </a:p>
          <a:p>
            <a:r>
              <a:rPr lang="en-US" dirty="0"/>
              <a:t>https://cdn.sepsis.org/wp-content/uploads/2019/02/surgery-iStock-654617646-600x400.jpg [Slide 18]</a:t>
            </a:r>
          </a:p>
          <a:p>
            <a:r>
              <a:rPr lang="en-US" dirty="0"/>
              <a:t>https://</a:t>
            </a:r>
            <a:r>
              <a:rPr lang="en-US" dirty="0" err="1"/>
              <a:t>static.lpnt.fr</a:t>
            </a:r>
            <a:r>
              <a:rPr lang="en-US" dirty="0"/>
              <a:t>/images/2013/07/19/ambroise-pare-1688056-jpg_1586615_660x281.JPG [Slide 20]</a:t>
            </a:r>
          </a:p>
          <a:p>
            <a:r>
              <a:rPr lang="en-US" dirty="0"/>
              <a:t>https://</a:t>
            </a:r>
            <a:r>
              <a:rPr lang="en-US" dirty="0" err="1"/>
              <a:t>allthatsinteresting.com</a:t>
            </a:r>
            <a:r>
              <a:rPr lang="en-US" dirty="0"/>
              <a:t>/</a:t>
            </a:r>
            <a:r>
              <a:rPr lang="en-US" dirty="0" err="1"/>
              <a:t>wordpress</a:t>
            </a:r>
            <a:r>
              <a:rPr lang="en-US" dirty="0"/>
              <a:t>/wp-content/uploads/2018/03/drilling-head-</a:t>
            </a:r>
            <a:r>
              <a:rPr lang="en-US" dirty="0" err="1"/>
              <a:t>painting.jpg</a:t>
            </a:r>
            <a:r>
              <a:rPr lang="en-US" dirty="0"/>
              <a:t> [Slide 25]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2809D-8937-D447-B05D-228375D9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D9E64-01B4-4D4F-931C-F67F306BF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43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0628-58ED-E648-8CE2-A96A7A36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Abbildungsverzeichnis</a:t>
            </a:r>
            <a:r>
              <a:rPr lang="en-US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81E76-6AA4-E345-995C-6EB5F92BF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www.aplustopper.com</a:t>
            </a:r>
            <a:r>
              <a:rPr lang="en-US" dirty="0"/>
              <a:t>/wp-content/uploads/2020/08/Andreas-Vesalius-</a:t>
            </a:r>
            <a:r>
              <a:rPr lang="en-US" dirty="0" err="1"/>
              <a:t>Biography.jpg</a:t>
            </a:r>
            <a:r>
              <a:rPr lang="en-US" dirty="0"/>
              <a:t> [Slide 26]</a:t>
            </a:r>
          </a:p>
          <a:p>
            <a:r>
              <a:rPr lang="en-US" dirty="0"/>
              <a:t>https://</a:t>
            </a:r>
            <a:r>
              <a:rPr lang="en-US" dirty="0" err="1"/>
              <a:t>www.medgadget.com</a:t>
            </a:r>
            <a:r>
              <a:rPr lang="en-US" dirty="0"/>
              <a:t>/wp-content/uploads/2019/02/global-surgical-instruments-</a:t>
            </a:r>
            <a:r>
              <a:rPr lang="en-US" dirty="0" err="1"/>
              <a:t>market.jpg</a:t>
            </a:r>
            <a:r>
              <a:rPr lang="en-US" dirty="0"/>
              <a:t> [Slide 41]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2809D-8937-D447-B05D-228375D9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D9E64-01B4-4D4F-931C-F67F306BF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4520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0628-58ED-E648-8CE2-A96A7A36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Quellenverzeichnis</a:t>
            </a:r>
            <a:r>
              <a:rPr lang="en-US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81E76-6AA4-E345-995C-6EB5F92BF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https://www.mayoclinic.org/tests-procedures/minimally-invasive-surgery/about/pac-20384771</a:t>
            </a:r>
          </a:p>
          <a:p>
            <a:r>
              <a:rPr lang="en-US" dirty="0"/>
              <a:t>https://www.hopkinsmedicine.org/health/treatment-tests-and-therapies/methods-of-surgery</a:t>
            </a:r>
          </a:p>
          <a:p>
            <a:r>
              <a:rPr lang="en-US" dirty="0"/>
              <a:t>https://www.facs.org/Education/Resources/Medical-Students/FAQ/Specialties</a:t>
            </a:r>
          </a:p>
          <a:p>
            <a:r>
              <a:rPr lang="en-US" dirty="0"/>
              <a:t>https://</a:t>
            </a:r>
            <a:r>
              <a:rPr lang="en-US" dirty="0" err="1"/>
              <a:t>www.netdoktor.de</a:t>
            </a:r>
            <a:r>
              <a:rPr lang="en-US" dirty="0"/>
              <a:t>/</a:t>
            </a:r>
            <a:r>
              <a:rPr lang="en-US" dirty="0" err="1"/>
              <a:t>krankenhaus</a:t>
            </a:r>
            <a:r>
              <a:rPr lang="en-US" dirty="0"/>
              <a:t>/plastische-chirurgie-11213.html</a:t>
            </a:r>
          </a:p>
          <a:p>
            <a:r>
              <a:rPr lang="en-US" dirty="0"/>
              <a:t>https://www.dwds.de/wb/Chirurgie</a:t>
            </a:r>
          </a:p>
          <a:p>
            <a:r>
              <a:rPr lang="en-US" dirty="0"/>
              <a:t>https://</a:t>
            </a:r>
            <a:r>
              <a:rPr lang="en-US" dirty="0" err="1"/>
              <a:t>www.netdoktor.de</a:t>
            </a:r>
            <a:r>
              <a:rPr lang="en-US" dirty="0"/>
              <a:t>/</a:t>
            </a:r>
            <a:r>
              <a:rPr lang="en-US" dirty="0" err="1"/>
              <a:t>krankenhaus</a:t>
            </a:r>
            <a:r>
              <a:rPr lang="en-US" dirty="0"/>
              <a:t>/chirurgie-uebersicht-11174.html</a:t>
            </a:r>
          </a:p>
          <a:p>
            <a:r>
              <a:rPr lang="en-US" dirty="0"/>
              <a:t>https://www.hurleymc.com/services/surgical/types-of-surgery/</a:t>
            </a:r>
          </a:p>
          <a:p>
            <a:r>
              <a:rPr lang="en-US" dirty="0"/>
              <a:t>https://</a:t>
            </a:r>
            <a:r>
              <a:rPr lang="en-US" dirty="0" err="1"/>
              <a:t>www.dgpraec.de</a:t>
            </a:r>
            <a:r>
              <a:rPr lang="en-US" dirty="0"/>
              <a:t>/</a:t>
            </a:r>
            <a:r>
              <a:rPr lang="en-US" dirty="0" err="1"/>
              <a:t>dgpraec</a:t>
            </a:r>
            <a:r>
              <a:rPr lang="en-US" dirty="0"/>
              <a:t>/</a:t>
            </a:r>
            <a:r>
              <a:rPr lang="en-US" dirty="0" err="1"/>
              <a:t>historie</a:t>
            </a:r>
            <a:r>
              <a:rPr lang="en-US" dirty="0"/>
              <a:t>/</a:t>
            </a:r>
            <a:r>
              <a:rPr lang="en-US" dirty="0" err="1"/>
              <a:t>plastische-chirurgie-geschichte</a:t>
            </a:r>
            <a:r>
              <a:rPr lang="en-US" dirty="0"/>
              <a:t>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9229D-4A04-5D4A-8612-6871CDB5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F1F16-38AC-CE4A-A2F8-3C46DE16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9986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0628-58ED-E648-8CE2-A96A7A36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Quellenverzeichnis</a:t>
            </a:r>
            <a:r>
              <a:rPr lang="en-US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81E76-6AA4-E345-995C-6EB5F92BF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www.anaesthesisten</a:t>
            </a:r>
            <a:r>
              <a:rPr lang="en-US" dirty="0"/>
              <a:t>-im-</a:t>
            </a:r>
            <a:r>
              <a:rPr lang="en-US" dirty="0" err="1"/>
              <a:t>netz.de</a:t>
            </a:r>
            <a:r>
              <a:rPr lang="en-US" dirty="0"/>
              <a:t>/</a:t>
            </a:r>
            <a:r>
              <a:rPr lang="en-US" dirty="0" err="1"/>
              <a:t>anaesthesie</a:t>
            </a:r>
            <a:r>
              <a:rPr lang="en-US" dirty="0"/>
              <a:t>/</a:t>
            </a:r>
            <a:r>
              <a:rPr lang="en-US" dirty="0" err="1"/>
              <a:t>anaesthesie-allgemein</a:t>
            </a:r>
            <a:r>
              <a:rPr lang="en-US" dirty="0"/>
              <a:t>/</a:t>
            </a:r>
          </a:p>
          <a:p>
            <a:r>
              <a:rPr lang="en-US" dirty="0"/>
              <a:t>https://</a:t>
            </a:r>
            <a:r>
              <a:rPr lang="en-US" dirty="0" err="1"/>
              <a:t>flexikon.doccheck.com</a:t>
            </a:r>
            <a:r>
              <a:rPr lang="en-US" dirty="0"/>
              <a:t>/de/</a:t>
            </a:r>
            <a:r>
              <a:rPr lang="en-US" dirty="0" err="1"/>
              <a:t>Minimal_invasive_Chirurgie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medizinio.de</a:t>
            </a:r>
            <a:r>
              <a:rPr lang="en-US" dirty="0"/>
              <a:t>/</a:t>
            </a:r>
            <a:r>
              <a:rPr lang="en-US" dirty="0" err="1"/>
              <a:t>fachrichtungen</a:t>
            </a:r>
            <a:r>
              <a:rPr lang="en-US" dirty="0"/>
              <a:t>/</a:t>
            </a:r>
            <a:r>
              <a:rPr lang="en-US" dirty="0" err="1"/>
              <a:t>chirurgie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www.heilpraxisnet.de</a:t>
            </a:r>
            <a:r>
              <a:rPr lang="en-US" dirty="0"/>
              <a:t>/</a:t>
            </a:r>
            <a:r>
              <a:rPr lang="en-US" dirty="0" err="1"/>
              <a:t>ganzheitliche-medizin</a:t>
            </a:r>
            <a:r>
              <a:rPr lang="en-US" dirty="0"/>
              <a:t>/</a:t>
            </a:r>
            <a:r>
              <a:rPr lang="en-US" dirty="0" err="1"/>
              <a:t>geschichte</a:t>
            </a:r>
            <a:r>
              <a:rPr lang="en-US" dirty="0"/>
              <a:t>-der-</a:t>
            </a:r>
            <a:r>
              <a:rPr lang="en-US" dirty="0" err="1"/>
              <a:t>chirurgie</a:t>
            </a:r>
            <a:r>
              <a:rPr lang="en-US" dirty="0"/>
              <a:t>/</a:t>
            </a:r>
          </a:p>
          <a:p>
            <a:r>
              <a:rPr lang="en-US" dirty="0"/>
              <a:t>https://</a:t>
            </a:r>
            <a:r>
              <a:rPr lang="en-US" dirty="0" err="1"/>
              <a:t>www.britannica.com</a:t>
            </a:r>
            <a:r>
              <a:rPr lang="en-US" dirty="0"/>
              <a:t>/biography/Andreas-Vesalius</a:t>
            </a:r>
          </a:p>
          <a:p>
            <a:r>
              <a:rPr lang="en-US" dirty="0"/>
              <a:t>https://</a:t>
            </a:r>
            <a:r>
              <a:rPr lang="en-US" dirty="0" err="1"/>
              <a:t>www.facs.org</a:t>
            </a:r>
            <a:r>
              <a:rPr lang="en-US" dirty="0"/>
              <a:t>/-/media/files/education/</a:t>
            </a:r>
            <a:r>
              <a:rPr lang="en-US" dirty="0" err="1"/>
              <a:t>medicalstudents</a:t>
            </a:r>
            <a:r>
              <a:rPr lang="en-US" dirty="0"/>
              <a:t>/</a:t>
            </a:r>
            <a:r>
              <a:rPr lang="en-US" dirty="0" err="1"/>
              <a:t>common_surgical_instruments_module.ashx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9229D-4A04-5D4A-8612-6871CDB5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F1F16-38AC-CE4A-A2F8-3C46DE16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3275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839A1C-34CB-4C3C-8531-CA67525FD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28CB8C-552E-2A4B-BFDE-B7A431DC8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1032918"/>
            <a:ext cx="5452533" cy="4792165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 dirty="0" err="1"/>
              <a:t>Vielen</a:t>
            </a:r>
            <a:r>
              <a:rPr lang="en-US" sz="4600" dirty="0"/>
              <a:t> Dank </a:t>
            </a:r>
            <a:r>
              <a:rPr lang="en-US" sz="4600" dirty="0" err="1"/>
              <a:t>für</a:t>
            </a:r>
            <a:r>
              <a:rPr lang="en-US" sz="4600" dirty="0"/>
              <a:t> die </a:t>
            </a:r>
            <a:r>
              <a:rPr lang="en-US" sz="4600" dirty="0" err="1"/>
              <a:t>Aufmerksamkeit</a:t>
            </a:r>
            <a:r>
              <a:rPr lang="en-US" sz="4600" dirty="0"/>
              <a:t>!</a:t>
            </a: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FAC94EAF-F7F7-4727-AE69-A7036B4A5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1B759-0445-C141-B08A-2F39AEF2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Name: Serkan Atay | Fachbereich 2 | Matrikelnummer: 1207077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1982E-7894-274F-8052-5C6B80CD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16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2891</Words>
  <Application>Microsoft Macintosh PowerPoint</Application>
  <PresentationFormat>Widescreen</PresentationFormat>
  <Paragraphs>419</Paragraphs>
  <Slides>49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Calibri</vt:lpstr>
      <vt:lpstr>Century Gothic</vt:lpstr>
      <vt:lpstr>Courier New</vt:lpstr>
      <vt:lpstr>Wingdings 2</vt:lpstr>
      <vt:lpstr>Quotable</vt:lpstr>
      <vt:lpstr>Chirurgie (Geschichte, Methoden, minimal invasive Chirurgie)</vt:lpstr>
      <vt:lpstr>Einleitend =&gt; Warum dieses Thema?</vt:lpstr>
      <vt:lpstr>“Erst kommt das Wort, dann die Arznei und dann das Messer.”</vt:lpstr>
      <vt:lpstr>Übersicht</vt:lpstr>
      <vt:lpstr>Etymologie</vt:lpstr>
      <vt:lpstr>Etymologie (Wortzusammensetzungen)</vt:lpstr>
      <vt:lpstr>Begrifflichkeiten</vt:lpstr>
      <vt:lpstr>Anästhesie</vt:lpstr>
      <vt:lpstr>Anästhesie (ASA-Klassifikation)</vt:lpstr>
      <vt:lpstr>Anästhesie (Allgemeinanästhesie)</vt:lpstr>
      <vt:lpstr>Anästhesie (Regionalanästhesie)</vt:lpstr>
      <vt:lpstr>Anästhesie (Lokalanästhesie)</vt:lpstr>
      <vt:lpstr>Anästhesie (Sedierung)</vt:lpstr>
      <vt:lpstr>Anästhesie (Funktionsweise/Einleitung)</vt:lpstr>
      <vt:lpstr>Anästhesie (Kontinuum und Ausleitung)</vt:lpstr>
      <vt:lpstr>Anästhesie (Anwendungsbereiche)</vt:lpstr>
      <vt:lpstr>Anästhesie (Risiken)</vt:lpstr>
      <vt:lpstr>Operation</vt:lpstr>
      <vt:lpstr>Operation (Beschreibung)</vt:lpstr>
      <vt:lpstr>“To eliminate that which is superfluous, restore that which has been dislocated, separate that which has been united, join that which has been divided and repair the defects of nature.”</vt:lpstr>
      <vt:lpstr>Geschichte</vt:lpstr>
      <vt:lpstr>Geschichte (Überblick)</vt:lpstr>
      <vt:lpstr>Geschichte (Antike)</vt:lpstr>
      <vt:lpstr>Geschichte (Mittelalter)</vt:lpstr>
      <vt:lpstr>Geschichte (Trepanation)</vt:lpstr>
      <vt:lpstr>“In our age nothing has been so degraded and then wholly restored as anatomy.”</vt:lpstr>
      <vt:lpstr>Geschichte (Moderne Chirurgie)</vt:lpstr>
      <vt:lpstr>Methoden</vt:lpstr>
      <vt:lpstr>../Vergleich</vt:lpstr>
      <vt:lpstr>Fachgebiete</vt:lpstr>
      <vt:lpstr>Fachgebiete (Herzchirurgie)</vt:lpstr>
      <vt:lpstr>Fachgebiete (Gefäßchirurgie)</vt:lpstr>
      <vt:lpstr>Fachgebiete (Hernienchirurgie)</vt:lpstr>
      <vt:lpstr>Fachgebiete (Kinderchirurgie)</vt:lpstr>
      <vt:lpstr>Fachgebiete (Kinderherzchirurgie)</vt:lpstr>
      <vt:lpstr>Fachgebiete (Orthopädie und Unfallchirurgie)</vt:lpstr>
      <vt:lpstr>Fachgebiete (Plastische und ästhethische Chirurgie)</vt:lpstr>
      <vt:lpstr>Fachgebiete (Thoraxchirurgie)</vt:lpstr>
      <vt:lpstr>Fachgebiete (Viszeralchirurgie)</vt:lpstr>
      <vt:lpstr>Eingesetzte Equipments</vt:lpstr>
      <vt:lpstr>Chirurgische Instrumente</vt:lpstr>
      <vt:lpstr>Chirurgische Instrumente</vt:lpstr>
      <vt:lpstr>Zukunft</vt:lpstr>
      <vt:lpstr>Fazit</vt:lpstr>
      <vt:lpstr>Abbildungsverzeichnis (1)</vt:lpstr>
      <vt:lpstr>Abbildungsverzeichnis (2)</vt:lpstr>
      <vt:lpstr>Quellenverzeichnis (1)</vt:lpstr>
      <vt:lpstr>Quellenverzeichnis (2)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Chirurgie (Geschichte, Methoden, minimal invasive Chirurgie)</dc:title>
  <dc:creator>Serkan Atay</dc:creator>
  <cp:lastModifiedBy>Serkan Atay</cp:lastModifiedBy>
  <cp:revision>199</cp:revision>
  <dcterms:created xsi:type="dcterms:W3CDTF">2021-01-01T20:08:29Z</dcterms:created>
  <dcterms:modified xsi:type="dcterms:W3CDTF">2021-01-24T16:54:25Z</dcterms:modified>
</cp:coreProperties>
</file>